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0"/>
            <a:ext cx="12188952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5BAEE8"/>
                </a:solidFill>
              </a:rPr>
              <a:t>RxNetwork × Adverge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In-Content Text-Only Unit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F5A623"/>
                </a:solidFill>
              </a:rPr>
              <a:t>Technical Delivery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212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BAEE8"/>
                </a:solidFill>
              </a:rPr>
              <a:t>Prepared by: [Your Company Name]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760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BAEE8"/>
                </a:solidFill>
              </a:rPr>
              <a:t>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BAEE8"/>
                </a:solidFill>
              </a:rPr>
              <a:t>Why RxNetwork needs a new revenue strategy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54864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5486400" cy="457200"/>
          </a:xfrm>
          <a:prstGeom prst="rect">
            <a:avLst/>
          </a:prstGeom>
          <a:solidFill>
            <a:srgbClr val="1A5F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4356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Zero-Click AI 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74519"/>
            <a:ext cx="51206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2D2D2D"/>
                </a:solidFill>
              </a:rPr>
              <a:t>→ LLMs (ChatGPT, Gemini, Copilot) answer directly on search page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2D2D2D"/>
                </a:solidFill>
              </a:rPr>
              <a:t>→ Users no longer click through to publisher websites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2D2D2D"/>
                </a:solidFill>
              </a:rPr>
              <a:t>→ RxNetwork sites losing referral traffic measurable declines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2D2D2D"/>
                </a:solidFill>
              </a:rPr>
              <a:t>→ Ad inventory and revenue dropping as pageviews fall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4114800"/>
            <a:ext cx="54864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4114800"/>
            <a:ext cx="5486400" cy="4572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41788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The Opportunity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617720"/>
            <a:ext cx="51206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2D2D2D"/>
                </a:solidFill>
              </a:rPr>
              <a:t>→ Brands want visibility inside AI-generated answers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2D2D2D"/>
                </a:solidFill>
              </a:rPr>
              <a:t>→ Healthcare advertisers need verified HCP audiences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2D2D2D"/>
                </a:solidFill>
              </a:rPr>
              <a:t>→ Text-only format is LLM-crawlable and compliant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2D2D2D"/>
                </a:solidFill>
              </a:rPr>
              <a:t>→ Premium inventory with guaranteed targeting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1371600"/>
            <a:ext cx="5669280" cy="5029200"/>
          </a:xfrm>
          <a:prstGeom prst="rect">
            <a:avLst/>
          </a:prstGeom>
          <a:solidFill>
            <a:srgbClr val="1A5F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201168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"LLM crawlers can legitimately capture these snippets and surface them—along with brand mentions—in zero-click search summaries."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411480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BAEE8"/>
                </a:solidFill>
              </a:rPr>
              <a:t>The solution: place factual, medically accurate brand mentions directly inside article content — content that AI can safely ingest and surface.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BAEE8"/>
                </a:solidFill>
              </a:rPr>
              <a:t>A complete in-content text unit delivery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36576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3657600" cy="4572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435608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JavaScript Tag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74519"/>
            <a:ext cx="32918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2D2D2D"/>
                </a:solidFill>
              </a:rPr>
              <a:t>→ Lightweight tag (under 5KB)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2D2D2D"/>
                </a:solidFill>
              </a:rPr>
              <a:t>→ Paste once on every article page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2D2D2D"/>
                </a:solidFill>
              </a:rPr>
              <a:t>→ Loads asynchronously — no page lag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2D2D2D"/>
                </a:solidFill>
              </a:rPr>
              <a:t>→ Matches page CSS automatically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60" y="1371600"/>
            <a:ext cx="36576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51960" y="1371600"/>
            <a:ext cx="3657600" cy="457200"/>
          </a:xfrm>
          <a:prstGeom prst="rect">
            <a:avLst/>
          </a:prstGeom>
          <a:solidFill>
            <a:srgbClr val="1A5F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1435608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Campaign Engine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1874519"/>
            <a:ext cx="32918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2D2D2D"/>
                </a:solidFill>
              </a:rPr>
              <a:t>→ Matches NPI specialty + page category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2D2D2D"/>
                </a:solidFill>
              </a:rPr>
              <a:t>→ Serves only verified HCPs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2D2D2D"/>
                </a:solidFill>
              </a:rPr>
              <a:t>→ Dynamically selects right text snippet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2D2D2D"/>
                </a:solidFill>
              </a:rPr>
              <a:t>→ No fallback to non-HCP traffic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1371600"/>
            <a:ext cx="36576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371600"/>
            <a:ext cx="3657600" cy="4572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1435608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Reporting Dashboard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1874519"/>
            <a:ext cx="32918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2D2D2D"/>
                </a:solidFill>
              </a:rPr>
              <a:t>→ Impressions, geo, device breakdown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2D2D2D"/>
                </a:solidFill>
              </a:rPr>
              <a:t>→ NPI specialty delivery reports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2D2D2D"/>
                </a:solidFill>
              </a:rPr>
              <a:t>→ Campaign performance at a glance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2D2D2D"/>
                </a:solidFill>
              </a:rPr>
              <a:t>→ CSV export for buyers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931920"/>
            <a:ext cx="11430000" cy="256032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114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D2B55"/>
                </a:solidFill>
              </a:rPr>
              <a:t>How it works — end to end: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4663440"/>
            <a:ext cx="2011680" cy="594360"/>
          </a:xfrm>
          <a:prstGeom prst="rect">
            <a:avLst/>
          </a:prstGeom>
          <a:solidFill>
            <a:srgbClr val="1A5F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19" y="4681728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Step 1
Doctor visits article page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06039" y="47091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5A623"/>
                </a:solidFill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926080" y="4663440"/>
            <a:ext cx="2011680" cy="594360"/>
          </a:xfrm>
          <a:prstGeom prst="rect">
            <a:avLst/>
          </a:prstGeom>
          <a:solidFill>
            <a:srgbClr val="1A5F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17520" y="4681728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Step 2
JS tag fires → checks NPI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92040" y="47091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5A623"/>
                </a:solidFill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212080" y="4663440"/>
            <a:ext cx="2011680" cy="594360"/>
          </a:xfrm>
          <a:prstGeom prst="rect">
            <a:avLst/>
          </a:prstGeom>
          <a:solidFill>
            <a:srgbClr val="1A5F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03520" y="4681728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Step 3
Server matches campaign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78040" y="47091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5A623"/>
                </a:solidFill>
              </a:rP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98079" y="4663440"/>
            <a:ext cx="2011680" cy="594360"/>
          </a:xfrm>
          <a:prstGeom prst="rect">
            <a:avLst/>
          </a:prstGeom>
          <a:solidFill>
            <a:srgbClr val="1A5F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89519" y="4681728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Step 4
Text snippet injected in-content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64040" y="47091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5A623"/>
                </a:solidFill>
              </a:rPr>
              <a:t>→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784080" y="4663440"/>
            <a:ext cx="2011680" cy="594360"/>
          </a:xfrm>
          <a:prstGeom prst="rect">
            <a:avLst/>
          </a:prstGeom>
          <a:solidFill>
            <a:srgbClr val="1A5F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875519" y="4681728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Step 5
Impression logged + reported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BAEE8"/>
                </a:solidFill>
              </a:rPr>
              <a:t>All components and how they connect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2743200" cy="2286000"/>
          </a:xfrm>
          <a:prstGeom prst="rect">
            <a:avLst/>
          </a:prstGeom>
          <a:solidFill>
            <a:srgbClr val="1A5F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17319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RxNetwork Sites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1168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Medical content sites
JS tag installed on
article pages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3840480"/>
            <a:ext cx="2743200" cy="2286000"/>
          </a:xfrm>
          <a:prstGeom prst="rect">
            <a:avLst/>
          </a:prstGeom>
          <a:solidFill>
            <a:srgbClr val="1A5F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9776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Client Browser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57200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Visitor's browser
loads JS tag
checks NPI cookie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49039" y="1280160"/>
            <a:ext cx="2743200" cy="22860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79" y="1417319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Your Backend
(FastAPI + Python)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79" y="201168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Campaign matching
NPI verification
Snippet delivery
Impression logging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32320" y="3840480"/>
            <a:ext cx="2743200" cy="22860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23759" y="39776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Redis Cache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59" y="457200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Fast lookup
Reduce DB load
Session data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241280" y="1280160"/>
            <a:ext cx="2743200" cy="2286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19" y="1417319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Admin Dashboard
(React + Next.js)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719" y="201168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Create campaigns
View reports
Manage targeting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241280" y="3840480"/>
            <a:ext cx="2743200" cy="2286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332719" y="39776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NPI Identity
Providers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2719" y="457200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Doceree / DeepIntent
or RxNetwork
pass-through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154680" y="2194560"/>
            <a:ext cx="594360" cy="731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903720" y="2194560"/>
            <a:ext cx="502920" cy="731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012680" y="2194560"/>
            <a:ext cx="228600" cy="731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154680" y="4572000"/>
            <a:ext cx="594360" cy="731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012680" y="4572000"/>
            <a:ext cx="228600" cy="731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903720" y="4572000"/>
            <a:ext cx="228600" cy="731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6400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D2D2D"/>
                </a:solidFill>
              </a:rPr>
              <a:t>HTTPS all connections | Redis caching | PostgreSQL storage | Async JS loading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BAEE8"/>
                </a:solidFill>
              </a:rPr>
              <a:t>Purpose + Why We Chose Each Technology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11430000" cy="457200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2B55"/>
                </a:solidFill>
              </a:rPr>
              <a:t>Technology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1280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2B55"/>
                </a:solidFill>
              </a:rPr>
              <a:t>Purpose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1280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2B55"/>
                </a:solidFill>
              </a:rPr>
              <a:t>Why This Choice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783080"/>
            <a:ext cx="1143000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892807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5FA4"/>
                </a:solidFill>
              </a:rPr>
              <a:t>JavaScript (Vanilla)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1892807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2D2D"/>
                </a:solidFill>
              </a:rPr>
              <a:t>Runs on all RxNetwork sites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1892807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2D2D"/>
                </a:solidFill>
              </a:rPr>
              <a:t>Lightweight, no framework, works everywhere, async load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441448"/>
            <a:ext cx="11430000" cy="621792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551176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5FA4"/>
                </a:solidFill>
              </a:rPr>
              <a:t>Python (FastAPI)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2551176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2D2D"/>
                </a:solidFill>
              </a:rPr>
              <a:t>Backend API + campaign matching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79" y="2551176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2D2D"/>
                </a:solidFill>
              </a:rPr>
              <a:t>Fast, async, handles many concurrent requests, great for ad-tech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099815"/>
            <a:ext cx="1143000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209544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5FA4"/>
                </a:solidFill>
              </a:rPr>
              <a:t>PostgreSQL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3209544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2D2D"/>
                </a:solidFill>
              </a:rPr>
              <a:t>Primary database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3209544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2D2D"/>
                </a:solidFill>
              </a:rPr>
              <a:t>Relational, reliable, handles complex queries for reporting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758184"/>
            <a:ext cx="11430000" cy="621792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867912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5FA4"/>
                </a:solidFill>
              </a:rPr>
              <a:t>Redis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3867912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2D2D"/>
                </a:solidFill>
              </a:rPr>
              <a:t>Caching layer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79" y="3867912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2D2D"/>
                </a:solidFill>
              </a:rPr>
              <a:t>Fast lookups, reduces DB load, handles session data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416552"/>
            <a:ext cx="1143000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452628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5FA4"/>
                </a:solidFill>
              </a:rPr>
              <a:t>React + Next.js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452628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2D2D"/>
                </a:solidFill>
              </a:rPr>
              <a:t>Admin dashboard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79" y="452628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2D2D"/>
                </a:solidFill>
              </a:rPr>
              <a:t>Modern, fast, great UI components, easy to deploy on Cloudflare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5074920"/>
            <a:ext cx="11430000" cy="621792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5184648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5FA4"/>
                </a:solidFill>
              </a:rPr>
              <a:t>Cloudflare Workers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0" y="5184648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2D2D"/>
                </a:solidFill>
              </a:rPr>
              <a:t>Hosting (optional)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55279" y="5184648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2D2D"/>
                </a:solidFill>
              </a:rPr>
              <a:t>Edge deployment, fast globally, scales automatically, cost-effective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5733288"/>
            <a:ext cx="1143000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5843016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5FA4"/>
                </a:solidFill>
              </a:rPr>
              <a:t>NPI Registry API / Third-party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0" y="5843016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2D2D"/>
                </a:solidFill>
              </a:rPr>
              <a:t>Doctor identity verification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55279" y="5843016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2D2D"/>
                </a:solidFill>
              </a:rPr>
              <a:t>Either CMS NPI registry or providers like Doceree, DeepIntent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How the System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BAEE8"/>
                </a:solidFill>
              </a:rPr>
              <a:t>Step-by-step flow from page load to reporting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5486400" cy="1554480"/>
          </a:xfrm>
          <a:prstGeom prst="rect">
            <a:avLst/>
          </a:prstGeom>
          <a:solidFill>
            <a:srgbClr val="1A5F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BAEE8"/>
                </a:solidFill>
              </a:rPr>
              <a:t>Step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45919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User Loads Article Page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148839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0E8F0"/>
                </a:solidFill>
              </a:rPr>
              <a:t>Doctor visits RxNetwork site → JS tag fires automatically in background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280160"/>
            <a:ext cx="5486400" cy="155448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3716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BAEE8"/>
                </a:solidFill>
              </a:rPr>
              <a:t>Step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1645919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NPI Eligibility Check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148839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0E8F0"/>
                </a:solidFill>
              </a:rPr>
              <a:t>Tag checks NPI status via Adverge identity graph or RxNetwork pass-through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971800"/>
            <a:ext cx="5486400" cy="15544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0632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BAEE8"/>
                </a:solidFill>
              </a:rPr>
              <a:t>Step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3375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NO NPI → No Op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8404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0E8F0"/>
                </a:solidFill>
              </a:rPr>
              <a:t>If NPI missing/invalid → snippet not requested, nothing shown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2971800"/>
            <a:ext cx="5486400" cy="15544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0632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BAEE8"/>
                </a:solidFill>
              </a:rPr>
              <a:t>Step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3375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YES NPI → Request Snippet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38404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0E8F0"/>
                </a:solidFill>
              </a:rPr>
              <a:t>Tag calls your backend with: site ID, page URL, unit category, NPI specialty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663440"/>
            <a:ext cx="5486400" cy="155448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4754879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BAEE8"/>
                </a:solidFill>
              </a:rPr>
              <a:t>Step 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0292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Campaign Matching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553212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0E8F0"/>
                </a:solidFill>
              </a:rPr>
              <a:t>Backend matches: page category + NPI specialty + active campaign budget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4663440"/>
            <a:ext cx="5486400" cy="1554480"/>
          </a:xfrm>
          <a:prstGeom prst="rect">
            <a:avLst/>
          </a:prstGeom>
          <a:solidFill>
            <a:srgbClr val="1A5F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4754879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BAEE8"/>
                </a:solidFill>
              </a:rPr>
              <a:t>Step 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50292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HTML Snippet Delivered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553212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0E8F0"/>
                </a:solidFill>
              </a:rPr>
              <a:t>1–10 lines of text returned in HTML format, styled to match host page CSS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6355080"/>
            <a:ext cx="5486400" cy="155448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64465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BAEE8"/>
                </a:solidFill>
              </a:rPr>
              <a:t>Step 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7208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Snippet Injected + Reported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722376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0E8F0"/>
                </a:solidFill>
              </a:rPr>
              <a:t>JS inserts snippet into article → impression logged → dashboard updated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NPI-Based Targeting + Medical Categories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BAEE8"/>
                </a:solidFill>
              </a:rPr>
              <a:t>How campaigns are matched and delivered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5486400" cy="50292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80160"/>
            <a:ext cx="5486400" cy="5486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4416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NPI Targeting Logic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965960"/>
            <a:ext cx="5212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300">
                <a:solidFill>
                  <a:srgbClr val="2D2D2D"/>
                </a:solidFill>
              </a:rPr>
              <a:t>• Every US doctor has a unique 10-digit NPI number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300">
                <a:solidFill>
                  <a:srgbClr val="2D2D2D"/>
                </a:solidFill>
              </a:rPr>
              <a:t>• Only NPI-verified HCPs receive the text snippet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300">
                <a:solidFill>
                  <a:srgbClr val="2D2D2D"/>
                </a:solidFill>
              </a:rPr>
              <a:t>• Non-verified visitors see no snippet (unit collapses)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300">
                <a:solidFill>
                  <a:srgbClr val="2D2D2D"/>
                </a:solidFill>
              </a:rPr>
              <a:t>• NPI data passed as hashed/pseudonymous identifier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300">
                <a:solidFill>
                  <a:srgbClr val="2D2D2D"/>
                </a:solidFill>
              </a:rPr>
              <a:t>• No PHI (Protected Health Information) stored or transmitted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300">
                <a:solidFill>
                  <a:srgbClr val="2D2D2D"/>
                </a:solidFill>
              </a:rPr>
              <a:t>• Integration methods: login-based, third-party cookie, or NPI pass-through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300">
                <a:solidFill>
                  <a:srgbClr val="2D2D2D"/>
                </a:solidFill>
              </a:rPr>
              <a:t>• Specialty extracted from NPI for targeting segmentation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300">
                <a:solidFill>
                  <a:srgbClr val="2D2D2D"/>
                </a:solidFill>
              </a:rPr>
              <a:t>• Frequency capping supported for future enhancement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280160"/>
            <a:ext cx="5577840" cy="50292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280160"/>
            <a:ext cx="5577840" cy="548640"/>
          </a:xfrm>
          <a:prstGeom prst="rect">
            <a:avLst/>
          </a:prstGeom>
          <a:solidFill>
            <a:srgbClr val="1A5F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34416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Medical Category Assignment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965960"/>
            <a:ext cx="5212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300">
                <a:solidFill>
                  <a:srgbClr val="2D2D2D"/>
                </a:solidFill>
              </a:rPr>
              <a:t>• Each page placement is assigned one or more categories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300">
                <a:solidFill>
                  <a:srgbClr val="2D2D2D"/>
                </a:solidFill>
              </a:rPr>
              <a:t>• Campaigns targeted by: NPI specialty + category match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300">
                <a:solidFill>
                  <a:srgbClr val="2D2D2D"/>
                </a:solidFill>
              </a:rPr>
              <a:t>• Only campaigns matching BOTH specialty AND category are eligible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300">
                <a:solidFill>
                  <a:srgbClr val="2D2D2D"/>
                </a:solidFill>
              </a:rPr>
              <a:t>• No fallback to non-HCP or non-matching campaigns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300">
                <a:solidFill>
                  <a:srgbClr val="2D2D2D"/>
                </a:solidFill>
              </a:rPr>
              <a:t>• Supported categories: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300">
                <a:solidFill>
                  <a:srgbClr val="2D2D2D"/>
                </a:solidFill>
              </a:rPr>
              <a:t>•   — Pediatrics, OBGYN, Geriatrics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300">
                <a:solidFill>
                  <a:srgbClr val="2D2D2D"/>
                </a:solidFill>
              </a:rPr>
              <a:t>•   — Pain, Rheumatology, Gastroenterology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300">
                <a:solidFill>
                  <a:srgbClr val="2D2D2D"/>
                </a:solidFill>
              </a:rPr>
              <a:t>•   — Additional specialties as needed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Cloudflare Workers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BAEE8"/>
                </a:solidFill>
              </a:rPr>
              <a:t>Why we recommend it and how it fits the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6858000" cy="50292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80160"/>
            <a:ext cx="6858000" cy="5486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44168"/>
            <a:ext cx="6583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What is Cloudflare Workers?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965960"/>
            <a:ext cx="6583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300">
                <a:solidFill>
                  <a:srgbClr val="2D2D2D"/>
                </a:solidFill>
              </a:rPr>
              <a:t>• Cloudflare Workers runs your code on edge servers worldwide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300">
                <a:solidFill>
                  <a:srgbClr val="2D2D2D"/>
                </a:solidFill>
              </a:rPr>
              <a:t>• Instead of one server, your backend runs in 300+ data centers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300">
                <a:solidFill>
                  <a:srgbClr val="2D2D2D"/>
                </a:solidFill>
              </a:rPr>
              <a:t>• When a doctor in New York visits RxNetwork → code runs locally (fast)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300">
                <a:solidFill>
                  <a:srgbClr val="2D2D2D"/>
                </a:solidFill>
              </a:rPr>
              <a:t>• When a doctor in London visits → same, code runs locally there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300">
                <a:solidFill>
                  <a:srgbClr val="2D2D2D"/>
                </a:solidFill>
              </a:rPr>
              <a:t>• No single point of failure — if one server fails, another takes over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300">
                <a:solidFill>
                  <a:srgbClr val="2D2D2D"/>
                </a:solidFill>
              </a:rPr>
              <a:t>• Automatically scales — handles 100 visits or 10 million visits equally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300">
                <a:solidFill>
                  <a:srgbClr val="2D2D2D"/>
                </a:solidFill>
              </a:rPr>
              <a:t>• No server management — Cloudflare handles infrastructure completely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300">
                <a:solidFill>
                  <a:srgbClr val="2D2D2D"/>
                </a:solidFill>
              </a:rPr>
              <a:t>• Free tier available; paid plans start at $5/month for high traffic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79" y="1280160"/>
            <a:ext cx="4297680" cy="2194560"/>
          </a:xfrm>
          <a:prstGeom prst="rect">
            <a:avLst/>
          </a:prstGeom>
          <a:solidFill>
            <a:srgbClr val="1A5F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35240" y="137160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Traditional Server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35240" y="1783080"/>
            <a:ext cx="40233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0E8F0"/>
                </a:solidFill>
              </a:rPr>
              <a:t>One physical location
Single point of failure
Manual scaling needed
Higher latency for global users
Server maintenance required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79" y="3657600"/>
            <a:ext cx="4297680" cy="26517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35240" y="3749039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Cloudflare Workers 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4160520"/>
            <a:ext cx="4023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300+ edge locations worldwide
Globally distributed, no single failure
Auto-scaling, no manual intervention
Low latency for all global users
No server maintenance needed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Cloudflare Workers — Architecture Details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BAEE8"/>
                </a:solidFill>
              </a:rPr>
              <a:t>How each component deploys on Cloudflare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5120640" cy="246888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417319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Workers (FastAPI backend)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96596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Python/FastAPI code runs here
Handles all API calls
Snippet matching logic
Campaign routing
Impression logging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4023360"/>
            <a:ext cx="5120640" cy="24688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41605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Cloudflare KV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70916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Key-value storage
Stores campaign data
Session caching
Fast global access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75120" y="1280160"/>
            <a:ext cx="5120640" cy="2468880"/>
          </a:xfrm>
          <a:prstGeom prst="rect">
            <a:avLst/>
          </a:prstGeom>
          <a:solidFill>
            <a:srgbClr val="1A5F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12280" y="1417319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Cloudflare D1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2280" y="196596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SQLite-based database
Stores impressions, reports
SQL queries for dashboard
Globally replicated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75120" y="4023360"/>
            <a:ext cx="5120640" cy="246888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12280" y="41605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R2 Object Storage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2280" y="470916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Stores text snippet content
Fallback for large campaigns
CDN-backed delivery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53796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D2D2D"/>
                </a:solidFill>
              </a:rPr>
              <a:t>All connections use HTTPS | Workers run at edge | D1/KV replicate globally automatically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Delivery Phases &amp;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BAEE8"/>
                </a:solidFill>
              </a:rPr>
              <a:t>Phased approach for risk-free validation and scaling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3749039" cy="64008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4416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Phase 1 — MVP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75564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5A623"/>
                </a:solidFill>
              </a:rPr>
              <a:t>8–10 weeks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965960"/>
            <a:ext cx="3749039" cy="438912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103120"/>
            <a:ext cx="3383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300">
                <a:solidFill>
                  <a:srgbClr val="2D2D2D"/>
                </a:solidFill>
              </a:rPr>
              <a:t>• Core backend (FastAPI + database)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300">
                <a:solidFill>
                  <a:srgbClr val="2D2D2D"/>
                </a:solidFill>
              </a:rPr>
              <a:t>• JavaScript tag (single site)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300">
                <a:solidFill>
                  <a:srgbClr val="2D2D2D"/>
                </a:solidFill>
              </a:rPr>
              <a:t>• Basic NPI integration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300">
                <a:solidFill>
                  <a:srgbClr val="2D2D2D"/>
                </a:solidFill>
              </a:rPr>
              <a:t>• Campaign matching logic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300">
                <a:solidFill>
                  <a:srgbClr val="2D2D2D"/>
                </a:solidFill>
              </a:rPr>
              <a:t>• Single-site pilot testing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1280160"/>
            <a:ext cx="3749039" cy="640080"/>
          </a:xfrm>
          <a:prstGeom prst="rect">
            <a:avLst/>
          </a:prstGeom>
          <a:solidFill>
            <a:srgbClr val="1A5F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134416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Phase 2 — Rollout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175564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5A623"/>
                </a:solidFill>
              </a:rPr>
              <a:t>6–8 weeks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43400" y="1965960"/>
            <a:ext cx="3749039" cy="438912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2103120"/>
            <a:ext cx="3383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300">
                <a:solidFill>
                  <a:srgbClr val="2D2D2D"/>
                </a:solidFill>
              </a:rPr>
              <a:t>• Multi-site deployment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300">
                <a:solidFill>
                  <a:srgbClr val="2D2D2D"/>
                </a:solidFill>
              </a:rPr>
              <a:t>• Full category targeting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300">
                <a:solidFill>
                  <a:srgbClr val="2D2D2D"/>
                </a:solidFill>
              </a:rPr>
              <a:t>• Advanced NPI segmentation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300">
                <a:solidFill>
                  <a:srgbClr val="2D2D2D"/>
                </a:solidFill>
              </a:rPr>
              <a:t>• Frequency capping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300">
                <a:solidFill>
                  <a:srgbClr val="2D2D2D"/>
                </a:solidFill>
              </a:rPr>
              <a:t>• Performance optimization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21040" y="1280160"/>
            <a:ext cx="3749039" cy="6400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58200" y="134416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Phase 3 — Dashboard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175564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5A623"/>
                </a:solidFill>
              </a:rPr>
              <a:t>6–8 weeks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21040" y="1965960"/>
            <a:ext cx="3749039" cy="438912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19" y="2103120"/>
            <a:ext cx="3383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300">
                <a:solidFill>
                  <a:srgbClr val="2D2D2D"/>
                </a:solidFill>
              </a:rPr>
              <a:t>• React/Next.js admin dashboard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300">
                <a:solidFill>
                  <a:srgbClr val="2D2D2D"/>
                </a:solidFill>
              </a:rPr>
              <a:t>• Reporting + CSV export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300">
                <a:solidFill>
                  <a:srgbClr val="2D2D2D"/>
                </a:solidFill>
              </a:rPr>
              <a:t>• Campaign management UI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300">
                <a:solidFill>
                  <a:srgbClr val="2D2D2D"/>
                </a:solidFill>
              </a:rPr>
              <a:t>• Security hardening (HTTPS, hashing)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300">
                <a:solidFill>
                  <a:srgbClr val="2D2D2D"/>
                </a:solidFill>
              </a:rPr>
              <a:t>• Client training + handover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64922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D2B55"/>
                </a:solidFill>
              </a:rPr>
              <a:t>Total Timeline: 20–26 weeks  |  Phase 1 delivers working system  |  Subsequent phases build on validated foundation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Investment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BAEE8"/>
                </a:solidFill>
              </a:rPr>
              <a:t>Transparent, phase-based pricing designed for fast validation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11430000" cy="201168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</a:rPr>
              <a:t>Total Estimated Investment: $18,000 – $28,000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4884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5A623"/>
                </a:solidFill>
              </a:rPr>
              <a:t>Phase-based delivery — pay as we deliver. No large upfront commitment.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3474720"/>
            <a:ext cx="3749039" cy="2560320"/>
          </a:xfrm>
          <a:prstGeom prst="rect">
            <a:avLst/>
          </a:prstGeom>
          <a:solidFill>
            <a:srgbClr val="1A5F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361188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Phase 1 — MVP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11480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5A623"/>
                </a:solidFill>
              </a:rPr>
              <a:t>$8,000 – $12,000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75488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0E8F0"/>
                </a:solidFill>
              </a:rPr>
              <a:t>Core engine, JS tag, single-site pilot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43400" y="3474720"/>
            <a:ext cx="3749039" cy="2560320"/>
          </a:xfrm>
          <a:prstGeom prst="rect">
            <a:avLst/>
          </a:prstGeom>
          <a:solidFill>
            <a:srgbClr val="1A5F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361188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Phase 2 — Rollout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411480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5A623"/>
                </a:solidFill>
              </a:rPr>
              <a:t>$5,000 – $8,000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475488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0E8F0"/>
                </a:solidFill>
              </a:rPr>
              <a:t>Multi-site, advanced targeting, optimization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21040" y="3474720"/>
            <a:ext cx="3749039" cy="2560320"/>
          </a:xfrm>
          <a:prstGeom prst="rect">
            <a:avLst/>
          </a:prstGeom>
          <a:solidFill>
            <a:srgbClr val="1A5F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58200" y="361188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Phase 3 — Dashboard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411480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5A623"/>
                </a:solidFill>
              </a:rPr>
              <a:t>$5,000 – $8,000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475488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0E8F0"/>
                </a:solidFill>
              </a:rPr>
              <a:t>Reporting UI, compliance, training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617220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D2D2D"/>
                </a:solidFill>
              </a:rPr>
              <a:t>Market context: US agencies charge $80,000–$130,000 for equivalent systems. Our lean team delivers the same outcome at a fraction of the cost.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Why Work With 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BAEE8"/>
                </a:solidFill>
              </a:rPr>
              <a:t>Smart positioning: not a freelancer, not an expensive agency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3749039" cy="36576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5087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Freelancer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05740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A623"/>
                </a:solidFill>
              </a:rPr>
              <a:t>$3K–$8K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743200"/>
            <a:ext cx="3474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Limited scope, no team, single point of failure, hard to scale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1371600"/>
            <a:ext cx="3749039" cy="365760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15087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US Agency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05740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A623"/>
                </a:solidFill>
              </a:rPr>
              <a:t>$80K–$130K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743200"/>
            <a:ext cx="3474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Full scope, but expensive, slow, and overkill for this stage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21040" y="1371600"/>
            <a:ext cx="3749039" cy="36576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58200" y="15087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✅ Us (Lean Team)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205740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A623"/>
                </a:solidFill>
              </a:rPr>
              <a:t>$18K–$28K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2743200"/>
            <a:ext cx="3474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Right-sized team, full system, faster delivery, cost-effective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5212080"/>
            <a:ext cx="11430000" cy="146304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5303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2B55"/>
                </a:solidFill>
              </a:rPr>
              <a:t>What you get: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6692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300">
                <a:solidFill>
                  <a:srgbClr val="2D2D2D"/>
                </a:solidFill>
              </a:rPr>
              <a:t>• Full AdTech system — not just a script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300">
                <a:solidFill>
                  <a:srgbClr val="2D2D2D"/>
                </a:solidFill>
              </a:rPr>
              <a:t>• Phased delivery — validate before full spend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300">
                <a:solidFill>
                  <a:srgbClr val="2D2D2D"/>
                </a:solidFill>
              </a:rPr>
              <a:t>• Healthcare + ad-tech domain knowledge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300">
                <a:solidFill>
                  <a:srgbClr val="2D2D2D"/>
                </a:solidFill>
              </a:rPr>
              <a:t>• Cloud-native, globally distributed architecture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300">
                <a:solidFill>
                  <a:srgbClr val="2D2D2D"/>
                </a:solidFill>
              </a:rPr>
              <a:t>• Transparent pricing — no hidden costs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BAEE8"/>
                </a:solidFill>
              </a:rPr>
              <a:t>Let's get started — here's what happens after you approve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2011680" cy="822960"/>
          </a:xfrm>
          <a:prstGeom prst="rect">
            <a:avLst/>
          </a:prstGeom>
          <a:solidFill>
            <a:srgbClr val="1A5F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Week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AEE8"/>
                </a:solidFill>
              </a:rPr>
              <a:t>Discovery Call</a:t>
            </a:r>
          </a:p>
        </p:txBody>
      </p:sp>
      <p:sp>
        <p:nvSpPr>
          <p:cNvPr id="9" name="Rectangle 8"/>
          <p:cNvSpPr/>
          <p:nvPr/>
        </p:nvSpPr>
        <p:spPr>
          <a:xfrm>
            <a:off x="2560320" y="1371600"/>
            <a:ext cx="9235440" cy="82296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0" y="1600200"/>
            <a:ext cx="8869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2D2D"/>
                </a:solidFill>
              </a:rPr>
              <a:t>Clarify NPI integration method, ad server stack, and site inventory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1945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5A623"/>
                </a:solidFill>
              </a:rPr>
              <a:t>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377440"/>
            <a:ext cx="2011680" cy="822960"/>
          </a:xfrm>
          <a:prstGeom prst="rect">
            <a:avLst/>
          </a:prstGeom>
          <a:solidFill>
            <a:srgbClr val="1A5F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4688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Week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8346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AEE8"/>
                </a:solidFill>
              </a:rPr>
              <a:t>Contract + MSA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60320" y="2377440"/>
            <a:ext cx="9235440" cy="82296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0" y="2606040"/>
            <a:ext cx="8869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2D2D"/>
                </a:solidFill>
              </a:rPr>
              <a:t>Sign agreement, collect 30% upfront payment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2004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5A623"/>
                </a:solidFill>
              </a:rPr>
              <a:t>▼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383280"/>
            <a:ext cx="2011680" cy="822960"/>
          </a:xfrm>
          <a:prstGeom prst="rect">
            <a:avLst/>
          </a:prstGeom>
          <a:solidFill>
            <a:srgbClr val="1A5F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4747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Week 3–4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8404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AEE8"/>
                </a:solidFill>
              </a:rPr>
              <a:t>Design Phase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560320" y="3383280"/>
            <a:ext cx="9235440" cy="82296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0" y="3611880"/>
            <a:ext cx="8869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2D2D"/>
                </a:solidFill>
              </a:rPr>
              <a:t>Database schema, API design, architecture documentation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4206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5A623"/>
                </a:solidFill>
              </a:rPr>
              <a:t>▼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389120"/>
            <a:ext cx="2011680" cy="822960"/>
          </a:xfrm>
          <a:prstGeom prst="rect">
            <a:avLst/>
          </a:prstGeom>
          <a:solidFill>
            <a:srgbClr val="1A5F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44805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Week 5–10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846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AEE8"/>
                </a:solidFill>
              </a:rPr>
              <a:t>Phase 1 Build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560320" y="4389120"/>
            <a:ext cx="9235440" cy="82296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43200" y="4617720"/>
            <a:ext cx="8869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2D2D"/>
                </a:solidFill>
              </a:rPr>
              <a:t>Backend, JS tag, single-site pilot live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52120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5A623"/>
                </a:solidFill>
              </a:rPr>
              <a:t>▼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5394960"/>
            <a:ext cx="2011680" cy="822960"/>
          </a:xfrm>
          <a:prstGeom prst="rect">
            <a:avLst/>
          </a:prstGeom>
          <a:solidFill>
            <a:srgbClr val="1A5F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54864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Week 11–12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58521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AEE8"/>
                </a:solidFill>
              </a:rPr>
              <a:t>Phase 1 Review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560320" y="5394960"/>
            <a:ext cx="9235440" cy="82296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0" y="5623560"/>
            <a:ext cx="8869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2D2D"/>
                </a:solidFill>
              </a:rPr>
              <a:t>Validate with client, collect feedback, prepare Phase 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6355080"/>
            <a:ext cx="11430000" cy="3657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6373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Ready to start? Let's schedule a technical discovery call this week. 👇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