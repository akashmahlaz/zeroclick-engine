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2377440"/>
            <a:ext cx="137160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606040"/>
            <a:ext cx="9144000" cy="914400"/>
          </a:xfrm>
          <a:prstGeom prst="rect">
            <a:avLst/>
          </a:prstGeom>
          <a:noFill/>
        </p:spPr>
        <p:txBody>
          <a:bodyPr wrap="square">
            <a:spAutoFit/>
          </a:bodyPr>
          <a:lstStyle/>
          <a:p>
            <a:pPr algn="l">
              <a:defRPr sz="4800" b="1">
                <a:solidFill>
                  <a:srgbClr val="1E293B"/>
                </a:solidFill>
                <a:latin typeface="Calibri"/>
              </a:defRPr>
            </a:pPr>
            <a:r>
              <a:t>In-Content Text-Only Unit</a:t>
            </a:r>
          </a:p>
        </p:txBody>
      </p:sp>
      <p:sp>
        <p:nvSpPr>
          <p:cNvPr id="5" name="TextBox 4"/>
          <p:cNvSpPr txBox="1"/>
          <p:nvPr/>
        </p:nvSpPr>
        <p:spPr>
          <a:xfrm>
            <a:off x="1371600" y="3520440"/>
            <a:ext cx="9144000" cy="548640"/>
          </a:xfrm>
          <a:prstGeom prst="rect">
            <a:avLst/>
          </a:prstGeom>
          <a:noFill/>
        </p:spPr>
        <p:txBody>
          <a:bodyPr wrap="square">
            <a:spAutoFit/>
          </a:bodyPr>
          <a:lstStyle/>
          <a:p>
            <a:pPr algn="l">
              <a:defRPr sz="2400" b="0">
                <a:solidFill>
                  <a:srgbClr val="2563EB"/>
                </a:solidFill>
                <a:latin typeface="Calibri"/>
              </a:defRPr>
            </a:pPr>
            <a:r>
              <a:t>Programmatic Delivery System for Healthcare Advertisers</a:t>
            </a:r>
          </a:p>
        </p:txBody>
      </p:sp>
      <p:sp>
        <p:nvSpPr>
          <p:cNvPr id="6" name="TextBox 5"/>
          <p:cNvSpPr txBox="1"/>
          <p:nvPr/>
        </p:nvSpPr>
        <p:spPr>
          <a:xfrm>
            <a:off x="1371600" y="4160520"/>
            <a:ext cx="9144000" cy="457200"/>
          </a:xfrm>
          <a:prstGeom prst="rect">
            <a:avLst/>
          </a:prstGeom>
          <a:noFill/>
        </p:spPr>
        <p:txBody>
          <a:bodyPr wrap="square">
            <a:spAutoFit/>
          </a:bodyPr>
          <a:lstStyle/>
          <a:p>
            <a:pPr algn="l">
              <a:defRPr sz="1800" b="0">
                <a:solidFill>
                  <a:srgbClr val="6B7280"/>
                </a:solidFill>
                <a:latin typeface="Calibri"/>
              </a:defRPr>
            </a:pPr>
            <a:r>
              <a:t>Technical Proposal &amp; Delivery Plan</a:t>
            </a:r>
          </a:p>
        </p:txBody>
      </p:sp>
      <p:sp>
        <p:nvSpPr>
          <p:cNvPr id="7" name="Rectangle 6"/>
          <p:cNvSpPr/>
          <p:nvPr/>
        </p:nvSpPr>
        <p:spPr>
          <a:xfrm>
            <a:off x="1371600" y="4846320"/>
            <a:ext cx="365760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5029200"/>
            <a:ext cx="4572000" cy="274320"/>
          </a:xfrm>
          <a:prstGeom prst="rect">
            <a:avLst/>
          </a:prstGeom>
          <a:noFill/>
        </p:spPr>
        <p:txBody>
          <a:bodyPr wrap="square">
            <a:spAutoFit/>
          </a:bodyPr>
          <a:lstStyle/>
          <a:p>
            <a:pPr algn="l">
              <a:defRPr sz="1400" b="0">
                <a:solidFill>
                  <a:srgbClr val="374151"/>
                </a:solidFill>
                <a:latin typeface="Calibri"/>
              </a:defRPr>
            </a:pPr>
            <a:r>
              <a:t>Prepared for RxNetwork &amp; Adverge</a:t>
            </a:r>
          </a:p>
        </p:txBody>
      </p:sp>
      <p:sp>
        <p:nvSpPr>
          <p:cNvPr id="9" name="TextBox 8"/>
          <p:cNvSpPr txBox="1"/>
          <p:nvPr/>
        </p:nvSpPr>
        <p:spPr>
          <a:xfrm>
            <a:off x="1371600" y="5349240"/>
            <a:ext cx="4572000" cy="274320"/>
          </a:xfrm>
          <a:prstGeom prst="rect">
            <a:avLst/>
          </a:prstGeom>
          <a:noFill/>
        </p:spPr>
        <p:txBody>
          <a:bodyPr wrap="square">
            <a:spAutoFit/>
          </a:bodyPr>
          <a:lstStyle/>
          <a:p>
            <a:pPr algn="l">
              <a:defRPr sz="1200" b="0">
                <a:solidFill>
                  <a:srgbClr val="6B7280"/>
                </a:solidFill>
                <a:latin typeface="Calibri"/>
              </a:defRPr>
            </a:pPr>
            <a:r>
              <a:t>Prepared by Logician  •  April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Understanding Your Challenge</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The shift to zero-click AI search is fundamentally changing healthcare publishing</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2 / 11</a:t>
            </a:r>
          </a:p>
        </p:txBody>
      </p:sp>
      <p:sp>
        <p:nvSpPr>
          <p:cNvPr id="7" name="Rounded Rectangle 6"/>
          <p:cNvSpPr/>
          <p:nvPr/>
        </p:nvSpPr>
        <p:spPr>
          <a:xfrm>
            <a:off x="914400" y="1691640"/>
            <a:ext cx="5029200" cy="2286000"/>
          </a:xfrm>
          <a:prstGeom prst="roundRect">
            <a:avLst/>
          </a:prstGeom>
          <a:solidFill>
            <a:srgbClr val="FE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828800"/>
            <a:ext cx="4572000" cy="320040"/>
          </a:xfrm>
          <a:prstGeom prst="rect">
            <a:avLst/>
          </a:prstGeom>
          <a:noFill/>
        </p:spPr>
        <p:txBody>
          <a:bodyPr wrap="square">
            <a:spAutoFit/>
          </a:bodyPr>
          <a:lstStyle/>
          <a:p>
            <a:pPr algn="l">
              <a:defRPr sz="1800" b="1">
                <a:solidFill>
                  <a:srgbClr val="DC2626"/>
                </a:solidFill>
                <a:latin typeface="Calibri"/>
              </a:defRPr>
            </a:pPr>
            <a:r>
              <a:t>The Problem</a:t>
            </a:r>
          </a:p>
        </p:txBody>
      </p:sp>
      <p:sp>
        <p:nvSpPr>
          <p:cNvPr id="9" name="TextBox 8"/>
          <p:cNvSpPr txBox="1"/>
          <p:nvPr/>
        </p:nvSpPr>
        <p:spPr>
          <a:xfrm>
            <a:off x="1188720" y="2240280"/>
            <a:ext cx="4572000" cy="1645920"/>
          </a:xfrm>
          <a:prstGeom prst="rect">
            <a:avLst/>
          </a:prstGeom>
          <a:noFill/>
        </p:spPr>
        <p:txBody>
          <a:bodyPr wrap="square">
            <a:spAutoFit/>
          </a:bodyPr>
          <a:lstStyle/>
          <a:p>
            <a:pPr>
              <a:spcAft>
                <a:spcPts val="600"/>
              </a:spcAft>
              <a:defRPr sz="1300">
                <a:solidFill>
                  <a:srgbClr val="1E293B"/>
                </a:solidFill>
                <a:latin typeface="Calibri"/>
              </a:defRPr>
            </a:pPr>
            <a:r>
              <a:t>  •  LLMs (Gemini, ChatGPT, Copilot) deliver answers directly on search pages</a:t>
            </a:r>
          </a:p>
          <a:p>
            <a:pPr>
              <a:spcAft>
                <a:spcPts val="600"/>
              </a:spcAft>
              <a:defRPr sz="1300">
                <a:solidFill>
                  <a:srgbClr val="1E293B"/>
                </a:solidFill>
                <a:latin typeface="Calibri"/>
              </a:defRPr>
            </a:pPr>
            <a:r>
              <a:t>  •  Healthcare professionals no longer click through to publisher sites</a:t>
            </a:r>
          </a:p>
          <a:p>
            <a:pPr>
              <a:spcAft>
                <a:spcPts val="600"/>
              </a:spcAft>
              <a:defRPr sz="1300">
                <a:solidFill>
                  <a:srgbClr val="1E293B"/>
                </a:solidFill>
                <a:latin typeface="Calibri"/>
              </a:defRPr>
            </a:pPr>
            <a:r>
              <a:t>  •  RxNetwork sites experiencing measurable traffic declines</a:t>
            </a:r>
          </a:p>
          <a:p>
            <a:pPr>
              <a:spcAft>
                <a:spcPts val="600"/>
              </a:spcAft>
              <a:defRPr sz="1300">
                <a:solidFill>
                  <a:srgbClr val="1E293B"/>
                </a:solidFill>
                <a:latin typeface="Calibri"/>
              </a:defRPr>
            </a:pPr>
            <a:r>
              <a:t>  •  Fewer pageviews means shrinking ad inventory and revenue</a:t>
            </a:r>
          </a:p>
        </p:txBody>
      </p:sp>
      <p:sp>
        <p:nvSpPr>
          <p:cNvPr id="10" name="Rounded Rectangle 9"/>
          <p:cNvSpPr/>
          <p:nvPr/>
        </p:nvSpPr>
        <p:spPr>
          <a:xfrm>
            <a:off x="6217920" y="1691640"/>
            <a:ext cx="5029200" cy="228600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572000" cy="320040"/>
          </a:xfrm>
          <a:prstGeom prst="rect">
            <a:avLst/>
          </a:prstGeom>
          <a:noFill/>
        </p:spPr>
        <p:txBody>
          <a:bodyPr wrap="square">
            <a:spAutoFit/>
          </a:bodyPr>
          <a:lstStyle/>
          <a:p>
            <a:pPr algn="l">
              <a:defRPr sz="1800" b="1">
                <a:solidFill>
                  <a:srgbClr val="059669"/>
                </a:solidFill>
                <a:latin typeface="Calibri"/>
              </a:defRPr>
            </a:pPr>
            <a:r>
              <a:t>The Opportunity</a:t>
            </a:r>
          </a:p>
        </p:txBody>
      </p:sp>
      <p:sp>
        <p:nvSpPr>
          <p:cNvPr id="12" name="TextBox 11"/>
          <p:cNvSpPr txBox="1"/>
          <p:nvPr/>
        </p:nvSpPr>
        <p:spPr>
          <a:xfrm>
            <a:off x="6492240" y="2240280"/>
            <a:ext cx="4572000" cy="1645920"/>
          </a:xfrm>
          <a:prstGeom prst="rect">
            <a:avLst/>
          </a:prstGeom>
          <a:noFill/>
        </p:spPr>
        <p:txBody>
          <a:bodyPr wrap="square">
            <a:spAutoFit/>
          </a:bodyPr>
          <a:lstStyle/>
          <a:p>
            <a:pPr>
              <a:spcAft>
                <a:spcPts val="600"/>
              </a:spcAft>
              <a:defRPr sz="1300">
                <a:solidFill>
                  <a:srgbClr val="1E293B"/>
                </a:solidFill>
                <a:latin typeface="Calibri"/>
              </a:defRPr>
            </a:pPr>
            <a:r>
              <a:t>  •  Pharma brands need visibility inside AI-summarized content</a:t>
            </a:r>
          </a:p>
          <a:p>
            <a:pPr>
              <a:spcAft>
                <a:spcPts val="600"/>
              </a:spcAft>
              <a:defRPr sz="1300">
                <a:solidFill>
                  <a:srgbClr val="1E293B"/>
                </a:solidFill>
                <a:latin typeface="Calibri"/>
              </a:defRPr>
            </a:pPr>
            <a:r>
              <a:t>  •  Text-only format is inherently LLM-crawlable and compliant</a:t>
            </a:r>
          </a:p>
          <a:p>
            <a:pPr>
              <a:spcAft>
                <a:spcPts val="600"/>
              </a:spcAft>
              <a:defRPr sz="1300">
                <a:solidFill>
                  <a:srgbClr val="1E293B"/>
                </a:solidFill>
                <a:latin typeface="Calibri"/>
              </a:defRPr>
            </a:pPr>
            <a:r>
              <a:t>  •  NPI-verified HCP audiences command premium CPMs</a:t>
            </a:r>
          </a:p>
          <a:p>
            <a:pPr>
              <a:spcAft>
                <a:spcPts val="600"/>
              </a:spcAft>
              <a:defRPr sz="1300">
                <a:solidFill>
                  <a:srgbClr val="1E293B"/>
                </a:solidFill>
                <a:latin typeface="Calibri"/>
              </a:defRPr>
            </a:pPr>
            <a:r>
              <a:t>  •  Category-level targeting aligns with existing pharma budgets</a:t>
            </a:r>
          </a:p>
        </p:txBody>
      </p:sp>
      <p:sp>
        <p:nvSpPr>
          <p:cNvPr id="13" name="Rounded Rectangle 12"/>
          <p:cNvSpPr/>
          <p:nvPr/>
        </p:nvSpPr>
        <p:spPr>
          <a:xfrm>
            <a:off x="914400" y="4251960"/>
            <a:ext cx="10332720" cy="2286000"/>
          </a:xfrm>
          <a:prstGeom prst="round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389120"/>
            <a:ext cx="9144000" cy="320040"/>
          </a:xfrm>
          <a:prstGeom prst="rect">
            <a:avLst/>
          </a:prstGeom>
          <a:noFill/>
        </p:spPr>
        <p:txBody>
          <a:bodyPr wrap="square">
            <a:spAutoFit/>
          </a:bodyPr>
          <a:lstStyle/>
          <a:p>
            <a:pPr algn="l">
              <a:defRPr sz="1800" b="1">
                <a:solidFill>
                  <a:srgbClr val="2563EB"/>
                </a:solidFill>
                <a:latin typeface="Calibri"/>
              </a:defRPr>
            </a:pPr>
            <a:r>
              <a:t>Your Vision (As We Understand It)</a:t>
            </a:r>
          </a:p>
        </p:txBody>
      </p:sp>
      <p:sp>
        <p:nvSpPr>
          <p:cNvPr id="15" name="TextBox 14"/>
          <p:cNvSpPr txBox="1"/>
          <p:nvPr/>
        </p:nvSpPr>
        <p:spPr>
          <a:xfrm>
            <a:off x="1188720" y="4800600"/>
            <a:ext cx="9601200" cy="1463040"/>
          </a:xfrm>
          <a:prstGeom prst="rect">
            <a:avLst/>
          </a:prstGeom>
          <a:noFill/>
        </p:spPr>
        <p:txBody>
          <a:bodyPr wrap="square">
            <a:spAutoFit/>
          </a:bodyPr>
          <a:lstStyle/>
          <a:p>
            <a:pPr algn="l">
              <a:spcAft>
                <a:spcPts val="459"/>
              </a:spcAft>
              <a:defRPr sz="1300" b="0">
                <a:solidFill>
                  <a:srgbClr val="374151"/>
                </a:solidFill>
                <a:latin typeface="Calibri"/>
              </a:defRPr>
            </a:pPr>
            <a:r>
              <a:t>Place 1–10 lines of medically accurate, non-promotional text with factual brand mentions directly inside article content.</a:t>
            </a:r>
          </a:p>
          <a:p>
            <a:pPr algn="l">
              <a:spcAft>
                <a:spcPts val="459"/>
              </a:spcAft>
              <a:defRPr sz="1300" b="0">
                <a:solidFill>
                  <a:srgbClr val="374151"/>
                </a:solidFill>
                <a:latin typeface="Calibri"/>
              </a:defRPr>
            </a:pPr>
            <a:r>
              <a:t>Serve these units exclusively to NPI-verified healthcare professionals visiting RxNetwork sites.</a:t>
            </a:r>
          </a:p>
          <a:p>
            <a:pPr algn="l">
              <a:spcAft>
                <a:spcPts val="459"/>
              </a:spcAft>
              <a:defRPr sz="1300" b="0">
                <a:solidFill>
                  <a:srgbClr val="374151"/>
                </a:solidFill>
                <a:latin typeface="Calibri"/>
              </a:defRPr>
            </a:pPr>
            <a:r>
              <a:t>Because the content is factual HTML integrated into the editorial flow, LLM crawlers can capture these snippets and surface them—along with brand mentions—in zero-click search summaries.</a:t>
            </a:r>
          </a:p>
          <a:p>
            <a:pPr algn="l">
              <a:spcAft>
                <a:spcPts val="459"/>
              </a:spcAft>
              <a:defRPr sz="1300" b="0">
                <a:solidFill>
                  <a:srgbClr val="374151"/>
                </a:solidFill>
                <a:latin typeface="Calibri"/>
              </a:defRPr>
            </a:pPr>
            <a:r>
              <a:t>Healthcare advertisers purchase targeted campaigns routed by medical category and NPI specialty.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Our Approach</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A purpose-built delivery system — not a repurposed ad server</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3 / 11</a:t>
            </a:r>
          </a:p>
        </p:txBody>
      </p:sp>
      <p:sp>
        <p:nvSpPr>
          <p:cNvPr id="7" name="Rounded Rectangle 6"/>
          <p:cNvSpPr/>
          <p:nvPr/>
        </p:nvSpPr>
        <p:spPr>
          <a:xfrm>
            <a:off x="640080" y="1691640"/>
            <a:ext cx="3520440" cy="365760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057400" y="1874519"/>
            <a:ext cx="502920" cy="50292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9" name="TextBox 8"/>
          <p:cNvSpPr txBox="1"/>
          <p:nvPr/>
        </p:nvSpPr>
        <p:spPr>
          <a:xfrm>
            <a:off x="822959" y="2514600"/>
            <a:ext cx="3154680" cy="365760"/>
          </a:xfrm>
          <a:prstGeom prst="rect">
            <a:avLst/>
          </a:prstGeom>
          <a:noFill/>
        </p:spPr>
        <p:txBody>
          <a:bodyPr wrap="square">
            <a:spAutoFit/>
          </a:bodyPr>
          <a:lstStyle/>
          <a:p>
            <a:pPr algn="ctr">
              <a:defRPr sz="1600" b="1">
                <a:solidFill>
                  <a:srgbClr val="2563EB"/>
                </a:solidFill>
                <a:latin typeface="Calibri"/>
              </a:defRPr>
            </a:pPr>
            <a:r>
              <a:t>Lightweight Integration</a:t>
            </a:r>
          </a:p>
        </p:txBody>
      </p:sp>
      <p:sp>
        <p:nvSpPr>
          <p:cNvPr id="10" name="TextBox 9"/>
          <p:cNvSpPr txBox="1"/>
          <p:nvPr/>
        </p:nvSpPr>
        <p:spPr>
          <a:xfrm>
            <a:off x="868680" y="2971800"/>
            <a:ext cx="3063240" cy="2194560"/>
          </a:xfrm>
          <a:prstGeom prst="rect">
            <a:avLst/>
          </a:prstGeom>
          <a:noFill/>
        </p:spPr>
        <p:txBody>
          <a:bodyPr wrap="square">
            <a:spAutoFit/>
          </a:bodyPr>
          <a:lstStyle/>
          <a:p>
            <a:pPr algn="ctr">
              <a:defRPr sz="1200" b="0">
                <a:solidFill>
                  <a:srgbClr val="374151"/>
                </a:solidFill>
                <a:latin typeface="Calibri"/>
              </a:defRPr>
            </a:pPr>
            <a:r>
              <a:t>A single JavaScript tag placed on article pages. Loads asynchronously, inherits host page CSS, and causes zero layout disruption. RxNetwork installs once — we handle the rest.</a:t>
            </a:r>
          </a:p>
        </p:txBody>
      </p:sp>
      <p:sp>
        <p:nvSpPr>
          <p:cNvPr id="11" name="Rounded Rectangle 10"/>
          <p:cNvSpPr/>
          <p:nvPr/>
        </p:nvSpPr>
        <p:spPr>
          <a:xfrm>
            <a:off x="4389120" y="1691640"/>
            <a:ext cx="3520440" cy="365760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806440" y="1874519"/>
            <a:ext cx="502920" cy="50292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3" name="TextBox 12"/>
          <p:cNvSpPr txBox="1"/>
          <p:nvPr/>
        </p:nvSpPr>
        <p:spPr>
          <a:xfrm>
            <a:off x="4572000" y="2514600"/>
            <a:ext cx="3154680" cy="365760"/>
          </a:xfrm>
          <a:prstGeom prst="rect">
            <a:avLst/>
          </a:prstGeom>
          <a:noFill/>
        </p:spPr>
        <p:txBody>
          <a:bodyPr wrap="square">
            <a:spAutoFit/>
          </a:bodyPr>
          <a:lstStyle/>
          <a:p>
            <a:pPr algn="ctr">
              <a:defRPr sz="1600" b="1">
                <a:solidFill>
                  <a:srgbClr val="059669"/>
                </a:solidFill>
                <a:latin typeface="Calibri"/>
              </a:defRPr>
            </a:pPr>
            <a:r>
              <a:t>Precision Targeting</a:t>
            </a:r>
          </a:p>
        </p:txBody>
      </p:sp>
      <p:sp>
        <p:nvSpPr>
          <p:cNvPr id="14" name="TextBox 13"/>
          <p:cNvSpPr txBox="1"/>
          <p:nvPr/>
        </p:nvSpPr>
        <p:spPr>
          <a:xfrm>
            <a:off x="4617720" y="2971800"/>
            <a:ext cx="3063240" cy="2194560"/>
          </a:xfrm>
          <a:prstGeom prst="rect">
            <a:avLst/>
          </a:prstGeom>
          <a:noFill/>
        </p:spPr>
        <p:txBody>
          <a:bodyPr wrap="square">
            <a:spAutoFit/>
          </a:bodyPr>
          <a:lstStyle/>
          <a:p>
            <a:pPr algn="ctr">
              <a:defRPr sz="1200" b="0">
                <a:solidFill>
                  <a:srgbClr val="374151"/>
                </a:solidFill>
                <a:latin typeface="Calibri"/>
              </a:defRPr>
            </a:pPr>
            <a:r>
              <a:t>Every impression is verified against NPI status. Campaigns are matched by medical specialty AND page category. No fallback to non-HCP traffic — every served unit reaches a verified healthcare professional.</a:t>
            </a:r>
          </a:p>
        </p:txBody>
      </p:sp>
      <p:sp>
        <p:nvSpPr>
          <p:cNvPr id="15" name="Rounded Rectangle 14"/>
          <p:cNvSpPr/>
          <p:nvPr/>
        </p:nvSpPr>
        <p:spPr>
          <a:xfrm>
            <a:off x="8138159" y="1691640"/>
            <a:ext cx="3520440" cy="3657600"/>
          </a:xfrm>
          <a:prstGeom prst="roundRect">
            <a:avLst/>
          </a:prstGeom>
          <a:solidFill>
            <a:srgbClr val="FEF3C7"/>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555480" y="1874519"/>
            <a:ext cx="502920" cy="50292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7" name="TextBox 16"/>
          <p:cNvSpPr txBox="1"/>
          <p:nvPr/>
        </p:nvSpPr>
        <p:spPr>
          <a:xfrm>
            <a:off x="8321039" y="2514600"/>
            <a:ext cx="3154680" cy="365760"/>
          </a:xfrm>
          <a:prstGeom prst="rect">
            <a:avLst/>
          </a:prstGeom>
          <a:noFill/>
        </p:spPr>
        <p:txBody>
          <a:bodyPr wrap="square">
            <a:spAutoFit/>
          </a:bodyPr>
          <a:lstStyle/>
          <a:p>
            <a:pPr algn="ctr">
              <a:defRPr sz="1600" b="1">
                <a:solidFill>
                  <a:srgbClr val="D97706"/>
                </a:solidFill>
                <a:latin typeface="Calibri"/>
              </a:defRPr>
            </a:pPr>
            <a:r>
              <a:t>Transparent Reporting</a:t>
            </a:r>
          </a:p>
        </p:txBody>
      </p:sp>
      <p:sp>
        <p:nvSpPr>
          <p:cNvPr id="18" name="TextBox 17"/>
          <p:cNvSpPr txBox="1"/>
          <p:nvPr/>
        </p:nvSpPr>
        <p:spPr>
          <a:xfrm>
            <a:off x="8366759" y="2971800"/>
            <a:ext cx="3063240" cy="2194560"/>
          </a:xfrm>
          <a:prstGeom prst="rect">
            <a:avLst/>
          </a:prstGeom>
          <a:noFill/>
        </p:spPr>
        <p:txBody>
          <a:bodyPr wrap="square">
            <a:spAutoFit/>
          </a:bodyPr>
          <a:lstStyle/>
          <a:p>
            <a:pPr algn="ctr">
              <a:defRPr sz="1200" b="0">
                <a:solidFill>
                  <a:srgbClr val="374151"/>
                </a:solidFill>
                <a:latin typeface="Calibri"/>
              </a:defRPr>
            </a:pPr>
            <a:r>
              <a:t>Full programmatic reporting: impressions by site, campaign, specialty, geo, and device. Dashboard access for real-time monitoring plus CSV export for buyers and internal analysis.</a:t>
            </a:r>
          </a:p>
        </p:txBody>
      </p:sp>
      <p:sp>
        <p:nvSpPr>
          <p:cNvPr id="19" name="Rounded Rectangle 18"/>
          <p:cNvSpPr/>
          <p:nvPr/>
        </p:nvSpPr>
        <p:spPr>
          <a:xfrm>
            <a:off x="640080" y="5623560"/>
            <a:ext cx="10881360" cy="731520"/>
          </a:xfrm>
          <a:prstGeom prst="round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715000"/>
            <a:ext cx="10058400" cy="457200"/>
          </a:xfrm>
          <a:prstGeom prst="rect">
            <a:avLst/>
          </a:prstGeom>
          <a:noFill/>
        </p:spPr>
        <p:txBody>
          <a:bodyPr wrap="square">
            <a:spAutoFit/>
          </a:bodyPr>
          <a:lstStyle/>
          <a:p>
            <a:pPr algn="ctr">
              <a:defRPr sz="1200" b="0">
                <a:solidFill>
                  <a:srgbClr val="374151"/>
                </a:solidFill>
                <a:latin typeface="Calibri"/>
              </a:defRPr>
            </a:pPr>
            <a:r>
              <a:t>Key principle: The text snippet is pure HTML — not an image, not an iframe. This ensures search engines and LLM crawlers can read and index the content naturally, while NPI gating ensures only verified HCPs receive the unit on-page.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What We Will Deliver</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Four concrete deliverables that form a complete system</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4 / 11</a:t>
            </a:r>
          </a:p>
        </p:txBody>
      </p:sp>
      <p:sp>
        <p:nvSpPr>
          <p:cNvPr id="7" name="Rounded Rectangle 6"/>
          <p:cNvSpPr/>
          <p:nvPr/>
        </p:nvSpPr>
        <p:spPr>
          <a:xfrm>
            <a:off x="640080" y="1691640"/>
            <a:ext cx="2651760" cy="347472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74519"/>
            <a:ext cx="2377440" cy="320040"/>
          </a:xfrm>
          <a:prstGeom prst="rect">
            <a:avLst/>
          </a:prstGeom>
          <a:noFill/>
        </p:spPr>
        <p:txBody>
          <a:bodyPr wrap="square">
            <a:spAutoFit/>
          </a:bodyPr>
          <a:lstStyle/>
          <a:p>
            <a:pPr algn="ctr">
              <a:defRPr sz="1500" b="1">
                <a:solidFill>
                  <a:srgbClr val="2563EB"/>
                </a:solidFill>
                <a:latin typeface="Calibri"/>
              </a:defRPr>
            </a:pPr>
            <a:r>
              <a:t>JavaScript Tag</a:t>
            </a:r>
          </a:p>
        </p:txBody>
      </p:sp>
      <p:sp>
        <p:nvSpPr>
          <p:cNvPr id="9" name="Rectangle 8"/>
          <p:cNvSpPr/>
          <p:nvPr/>
        </p:nvSpPr>
        <p:spPr>
          <a:xfrm>
            <a:off x="1097280" y="2240280"/>
            <a:ext cx="1737360"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23160"/>
            <a:ext cx="2286000" cy="2743200"/>
          </a:xfrm>
          <a:prstGeom prst="rect">
            <a:avLst/>
          </a:prstGeom>
          <a:noFill/>
        </p:spPr>
        <p:txBody>
          <a:bodyPr wrap="square">
            <a:spAutoFit/>
          </a:bodyPr>
          <a:lstStyle/>
          <a:p>
            <a:pPr algn="ctr">
              <a:defRPr sz="1200" b="0">
                <a:solidFill>
                  <a:srgbClr val="374151"/>
                </a:solidFill>
                <a:latin typeface="Calibri"/>
              </a:defRPr>
            </a:pPr>
            <a:r>
              <a:t>Lightweight async script (&lt;5KB)</a:t>
            </a:r>
            <a:br/>
            <a:r>
              <a:t>that RxNetwork embeds on article</a:t>
            </a:r>
            <a:br/>
            <a:r>
              <a:t>pages. Handles NPI check, campaign</a:t>
            </a:r>
            <a:br/>
            <a:r>
              <a:t>request, and snippet injection</a:t>
            </a:r>
            <a:br/>
            <a:r>
              <a:t>with zero page-load impact.</a:t>
            </a:r>
          </a:p>
        </p:txBody>
      </p:sp>
      <p:sp>
        <p:nvSpPr>
          <p:cNvPr id="11" name="Rounded Rectangle 10"/>
          <p:cNvSpPr/>
          <p:nvPr/>
        </p:nvSpPr>
        <p:spPr>
          <a:xfrm>
            <a:off x="3474720" y="1691640"/>
            <a:ext cx="2651760" cy="347472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79" y="1874519"/>
            <a:ext cx="2377440" cy="320040"/>
          </a:xfrm>
          <a:prstGeom prst="rect">
            <a:avLst/>
          </a:prstGeom>
          <a:noFill/>
        </p:spPr>
        <p:txBody>
          <a:bodyPr wrap="square">
            <a:spAutoFit/>
          </a:bodyPr>
          <a:lstStyle/>
          <a:p>
            <a:pPr algn="ctr">
              <a:defRPr sz="1500" b="1">
                <a:solidFill>
                  <a:srgbClr val="059669"/>
                </a:solidFill>
                <a:latin typeface="Calibri"/>
              </a:defRPr>
            </a:pPr>
            <a:r>
              <a:t>Campaign Matching Engine</a:t>
            </a:r>
          </a:p>
        </p:txBody>
      </p:sp>
      <p:sp>
        <p:nvSpPr>
          <p:cNvPr id="13" name="Rectangle 12"/>
          <p:cNvSpPr/>
          <p:nvPr/>
        </p:nvSpPr>
        <p:spPr>
          <a:xfrm>
            <a:off x="3931920" y="2240280"/>
            <a:ext cx="1737360"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423160"/>
            <a:ext cx="2286000" cy="2743200"/>
          </a:xfrm>
          <a:prstGeom prst="rect">
            <a:avLst/>
          </a:prstGeom>
          <a:noFill/>
        </p:spPr>
        <p:txBody>
          <a:bodyPr wrap="square">
            <a:spAutoFit/>
          </a:bodyPr>
          <a:lstStyle/>
          <a:p>
            <a:pPr algn="ctr">
              <a:defRPr sz="1200" b="0">
                <a:solidFill>
                  <a:srgbClr val="374151"/>
                </a:solidFill>
                <a:latin typeface="Calibri"/>
              </a:defRPr>
            </a:pPr>
            <a:r>
              <a:t>Backend server that receives</a:t>
            </a:r>
            <a:br/>
            <a:r>
              <a:t>requests, verifies NPI status,</a:t>
            </a:r>
            <a:br/>
            <a:r>
              <a:t>matches active campaigns by</a:t>
            </a:r>
            <a:br/>
            <a:r>
              <a:t>medical category + specialty,</a:t>
            </a:r>
            <a:br/>
            <a:r>
              <a:t>and returns the right snippet.</a:t>
            </a:r>
          </a:p>
        </p:txBody>
      </p:sp>
      <p:sp>
        <p:nvSpPr>
          <p:cNvPr id="15" name="Rounded Rectangle 14"/>
          <p:cNvSpPr/>
          <p:nvPr/>
        </p:nvSpPr>
        <p:spPr>
          <a:xfrm>
            <a:off x="6309360" y="1691640"/>
            <a:ext cx="2651760" cy="3474720"/>
          </a:xfrm>
          <a:prstGeom prst="roundRect">
            <a:avLst/>
          </a:prstGeom>
          <a:solidFill>
            <a:srgbClr val="FEF3C7"/>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874519"/>
            <a:ext cx="2377440" cy="320040"/>
          </a:xfrm>
          <a:prstGeom prst="rect">
            <a:avLst/>
          </a:prstGeom>
          <a:noFill/>
        </p:spPr>
        <p:txBody>
          <a:bodyPr wrap="square">
            <a:spAutoFit/>
          </a:bodyPr>
          <a:lstStyle/>
          <a:p>
            <a:pPr algn="ctr">
              <a:defRPr sz="1500" b="1">
                <a:solidFill>
                  <a:srgbClr val="D97706"/>
                </a:solidFill>
                <a:latin typeface="Calibri"/>
              </a:defRPr>
            </a:pPr>
            <a:r>
              <a:t>Reporting Dashboard</a:t>
            </a:r>
          </a:p>
        </p:txBody>
      </p:sp>
      <p:sp>
        <p:nvSpPr>
          <p:cNvPr id="17" name="Rectangle 16"/>
          <p:cNvSpPr/>
          <p:nvPr/>
        </p:nvSpPr>
        <p:spPr>
          <a:xfrm>
            <a:off x="6766560" y="2240280"/>
            <a:ext cx="1737360" cy="25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423160"/>
            <a:ext cx="2286000" cy="2743200"/>
          </a:xfrm>
          <a:prstGeom prst="rect">
            <a:avLst/>
          </a:prstGeom>
          <a:noFill/>
        </p:spPr>
        <p:txBody>
          <a:bodyPr wrap="square">
            <a:spAutoFit/>
          </a:bodyPr>
          <a:lstStyle/>
          <a:p>
            <a:pPr algn="ctr">
              <a:defRPr sz="1200" b="0">
                <a:solidFill>
                  <a:srgbClr val="374151"/>
                </a:solidFill>
                <a:latin typeface="Calibri"/>
              </a:defRPr>
            </a:pPr>
            <a:r>
              <a:t>Web-based admin panel for</a:t>
            </a:r>
            <a:br/>
            <a:r>
              <a:t>campaign management, performance</a:t>
            </a:r>
            <a:br/>
            <a:r>
              <a:t>reporting, audience delivery</a:t>
            </a:r>
            <a:br/>
            <a:r>
              <a:t>metrics, and CSV export</a:t>
            </a:r>
            <a:br/>
            <a:r>
              <a:t>for buyers and agencies.</a:t>
            </a:r>
          </a:p>
        </p:txBody>
      </p:sp>
      <p:sp>
        <p:nvSpPr>
          <p:cNvPr id="19" name="Rounded Rectangle 18"/>
          <p:cNvSpPr/>
          <p:nvPr/>
        </p:nvSpPr>
        <p:spPr>
          <a:xfrm>
            <a:off x="9144000" y="1691640"/>
            <a:ext cx="2651760" cy="3474720"/>
          </a:xfrm>
          <a:prstGeom prst="roundRect">
            <a:avLst/>
          </a:prstGeom>
          <a:solidFill>
            <a:srgbClr val="EDE9FE"/>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0" y="1874519"/>
            <a:ext cx="2377440" cy="320040"/>
          </a:xfrm>
          <a:prstGeom prst="rect">
            <a:avLst/>
          </a:prstGeom>
          <a:noFill/>
        </p:spPr>
        <p:txBody>
          <a:bodyPr wrap="square">
            <a:spAutoFit/>
          </a:bodyPr>
          <a:lstStyle/>
          <a:p>
            <a:pPr algn="ctr">
              <a:defRPr sz="1500" b="1">
                <a:solidFill>
                  <a:srgbClr val="7C3AED"/>
                </a:solidFill>
                <a:latin typeface="Calibri"/>
              </a:defRPr>
            </a:pPr>
            <a:r>
              <a:t>Documentation &amp; Training</a:t>
            </a:r>
          </a:p>
        </p:txBody>
      </p:sp>
      <p:sp>
        <p:nvSpPr>
          <p:cNvPr id="21" name="Rectangle 20"/>
          <p:cNvSpPr/>
          <p:nvPr/>
        </p:nvSpPr>
        <p:spPr>
          <a:xfrm>
            <a:off x="9601200" y="2240280"/>
            <a:ext cx="1737360" cy="25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2423160"/>
            <a:ext cx="2286000" cy="2743200"/>
          </a:xfrm>
          <a:prstGeom prst="rect">
            <a:avLst/>
          </a:prstGeom>
          <a:noFill/>
        </p:spPr>
        <p:txBody>
          <a:bodyPr wrap="square">
            <a:spAutoFit/>
          </a:bodyPr>
          <a:lstStyle/>
          <a:p>
            <a:pPr algn="ctr">
              <a:defRPr sz="1200" b="0">
                <a:solidFill>
                  <a:srgbClr val="374151"/>
                </a:solidFill>
                <a:latin typeface="Calibri"/>
              </a:defRPr>
            </a:pPr>
            <a:r>
              <a:t>Complete deployment guide,</a:t>
            </a:r>
            <a:br/>
            <a:r>
              <a:t>API documentation, campaign</a:t>
            </a:r>
            <a:br/>
            <a:r>
              <a:t>creation walkthrough, and</a:t>
            </a:r>
            <a:br/>
            <a:r>
              <a:t>live training session for</a:t>
            </a:r>
            <a:br/>
            <a:r>
              <a:t>RxNetwork and Adverge teams.</a:t>
            </a:r>
          </a:p>
        </p:txBody>
      </p:sp>
      <p:sp>
        <p:nvSpPr>
          <p:cNvPr id="23" name="Rounded Rectangle 22"/>
          <p:cNvSpPr/>
          <p:nvPr/>
        </p:nvSpPr>
        <p:spPr>
          <a:xfrm>
            <a:off x="640080" y="5440680"/>
            <a:ext cx="10881360" cy="1097280"/>
          </a:xfrm>
          <a:prstGeom prst="round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532120"/>
            <a:ext cx="10058400" cy="320040"/>
          </a:xfrm>
          <a:prstGeom prst="rect">
            <a:avLst/>
          </a:prstGeom>
          <a:noFill/>
        </p:spPr>
        <p:txBody>
          <a:bodyPr wrap="square">
            <a:spAutoFit/>
          </a:bodyPr>
          <a:lstStyle/>
          <a:p>
            <a:pPr algn="l">
              <a:defRPr sz="1400" b="1">
                <a:solidFill>
                  <a:srgbClr val="2563EB"/>
                </a:solidFill>
                <a:latin typeface="Calibri"/>
              </a:defRPr>
            </a:pPr>
            <a:r>
              <a:t>Reporting Includes</a:t>
            </a:r>
          </a:p>
        </p:txBody>
      </p:sp>
      <p:sp>
        <p:nvSpPr>
          <p:cNvPr id="25" name="TextBox 24"/>
          <p:cNvSpPr txBox="1"/>
          <p:nvPr/>
        </p:nvSpPr>
        <p:spPr>
          <a:xfrm>
            <a:off x="914400" y="5852160"/>
            <a:ext cx="10058400" cy="457200"/>
          </a:xfrm>
          <a:prstGeom prst="rect">
            <a:avLst/>
          </a:prstGeom>
          <a:noFill/>
        </p:spPr>
        <p:txBody>
          <a:bodyPr wrap="square">
            <a:spAutoFit/>
          </a:bodyPr>
          <a:lstStyle/>
          <a:p>
            <a:pPr algn="l">
              <a:defRPr sz="1200" b="0">
                <a:solidFill>
                  <a:srgbClr val="374151"/>
                </a:solidFill>
                <a:latin typeface="Calibri"/>
              </a:defRPr>
            </a:pPr>
            <a:r>
              <a:t>Impressions served  •  Viewability metrics  •  Geo distribution  •  Device breakdown  •  NPI specialty segment  •  Campaign ID  •  Snippet ID  •  Page URL / Site  •  Downloadable 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How It Works</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End-to-end flow from page load to impression reporting</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5 / 11</a:t>
            </a:r>
          </a:p>
        </p:txBody>
      </p:sp>
      <p:sp>
        <p:nvSpPr>
          <p:cNvPr id="7" name="Rounded Rectangle 6"/>
          <p:cNvSpPr/>
          <p:nvPr/>
        </p:nvSpPr>
        <p:spPr>
          <a:xfrm>
            <a:off x="320040" y="1691640"/>
            <a:ext cx="1481328" cy="301752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874519"/>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9" name="TextBox 8"/>
          <p:cNvSpPr txBox="1"/>
          <p:nvPr/>
        </p:nvSpPr>
        <p:spPr>
          <a:xfrm>
            <a:off x="411479" y="2377440"/>
            <a:ext cx="1298448" cy="411480"/>
          </a:xfrm>
          <a:prstGeom prst="rect">
            <a:avLst/>
          </a:prstGeom>
          <a:noFill/>
        </p:spPr>
        <p:txBody>
          <a:bodyPr wrap="square">
            <a:spAutoFit/>
          </a:bodyPr>
          <a:lstStyle/>
          <a:p>
            <a:pPr algn="ctr">
              <a:defRPr sz="1300" b="1">
                <a:solidFill>
                  <a:srgbClr val="2563EB"/>
                </a:solidFill>
                <a:latin typeface="Calibri"/>
              </a:defRPr>
            </a:pPr>
            <a:r>
              <a:t>Page Load</a:t>
            </a:r>
          </a:p>
        </p:txBody>
      </p:sp>
      <p:sp>
        <p:nvSpPr>
          <p:cNvPr id="10" name="TextBox 9"/>
          <p:cNvSpPr txBox="1"/>
          <p:nvPr/>
        </p:nvSpPr>
        <p:spPr>
          <a:xfrm>
            <a:off x="365759" y="2834640"/>
            <a:ext cx="1389888" cy="1463040"/>
          </a:xfrm>
          <a:prstGeom prst="rect">
            <a:avLst/>
          </a:prstGeom>
          <a:noFill/>
        </p:spPr>
        <p:txBody>
          <a:bodyPr wrap="square">
            <a:spAutoFit/>
          </a:bodyPr>
          <a:lstStyle/>
          <a:p>
            <a:pPr algn="ctr">
              <a:defRPr sz="1000" b="0">
                <a:solidFill>
                  <a:srgbClr val="374151"/>
                </a:solidFill>
                <a:latin typeface="Calibri"/>
              </a:defRPr>
            </a:pPr>
            <a:r>
              <a:t>HCP visits an</a:t>
            </a:r>
            <a:br/>
            <a:r>
              <a:t>article page on</a:t>
            </a:r>
            <a:br/>
            <a:r>
              <a:t>RxNetwork site</a:t>
            </a:r>
          </a:p>
        </p:txBody>
      </p:sp>
      <p:sp>
        <p:nvSpPr>
          <p:cNvPr id="11" name="TextBox 10"/>
          <p:cNvSpPr txBox="1"/>
          <p:nvPr/>
        </p:nvSpPr>
        <p:spPr>
          <a:xfrm>
            <a:off x="1764792" y="2651760"/>
            <a:ext cx="274320" cy="365760"/>
          </a:xfrm>
          <a:prstGeom prst="rect">
            <a:avLst/>
          </a:prstGeom>
          <a:noFill/>
        </p:spPr>
        <p:txBody>
          <a:bodyPr wrap="square">
            <a:spAutoFit/>
          </a:bodyPr>
          <a:lstStyle/>
          <a:p>
            <a:pPr algn="ctr">
              <a:defRPr sz="1800" b="0">
                <a:solidFill>
                  <a:srgbClr val="6B7280"/>
                </a:solidFill>
                <a:latin typeface="Calibri"/>
              </a:defRPr>
            </a:pPr>
            <a:r>
              <a:t>→</a:t>
            </a:r>
          </a:p>
        </p:txBody>
      </p:sp>
      <p:sp>
        <p:nvSpPr>
          <p:cNvPr id="12" name="Rounded Rectangle 11"/>
          <p:cNvSpPr/>
          <p:nvPr/>
        </p:nvSpPr>
        <p:spPr>
          <a:xfrm>
            <a:off x="1984248" y="1691640"/>
            <a:ext cx="1481328" cy="301752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487168" y="1874519"/>
            <a:ext cx="411480" cy="4114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14" name="TextBox 13"/>
          <p:cNvSpPr txBox="1"/>
          <p:nvPr/>
        </p:nvSpPr>
        <p:spPr>
          <a:xfrm>
            <a:off x="2075688" y="2377440"/>
            <a:ext cx="1298448" cy="411480"/>
          </a:xfrm>
          <a:prstGeom prst="rect">
            <a:avLst/>
          </a:prstGeom>
          <a:noFill/>
        </p:spPr>
        <p:txBody>
          <a:bodyPr wrap="square">
            <a:spAutoFit/>
          </a:bodyPr>
          <a:lstStyle/>
          <a:p>
            <a:pPr algn="ctr">
              <a:defRPr sz="1300" b="1">
                <a:solidFill>
                  <a:srgbClr val="2563EB"/>
                </a:solidFill>
                <a:latin typeface="Calibri"/>
              </a:defRPr>
            </a:pPr>
            <a:r>
              <a:t>Tag Fires</a:t>
            </a:r>
          </a:p>
        </p:txBody>
      </p:sp>
      <p:sp>
        <p:nvSpPr>
          <p:cNvPr id="15" name="TextBox 14"/>
          <p:cNvSpPr txBox="1"/>
          <p:nvPr/>
        </p:nvSpPr>
        <p:spPr>
          <a:xfrm>
            <a:off x="2029967" y="2834640"/>
            <a:ext cx="1389888" cy="1463040"/>
          </a:xfrm>
          <a:prstGeom prst="rect">
            <a:avLst/>
          </a:prstGeom>
          <a:noFill/>
        </p:spPr>
        <p:txBody>
          <a:bodyPr wrap="square">
            <a:spAutoFit/>
          </a:bodyPr>
          <a:lstStyle/>
          <a:p>
            <a:pPr algn="ctr">
              <a:defRPr sz="1000" b="0">
                <a:solidFill>
                  <a:srgbClr val="374151"/>
                </a:solidFill>
                <a:latin typeface="Calibri"/>
              </a:defRPr>
            </a:pPr>
            <a:r>
              <a:t>Lightweight JS</a:t>
            </a:r>
            <a:br/>
            <a:r>
              <a:t>tag loads async</a:t>
            </a:r>
            <a:br/>
            <a:r>
              <a:t>in background</a:t>
            </a:r>
          </a:p>
        </p:txBody>
      </p:sp>
      <p:sp>
        <p:nvSpPr>
          <p:cNvPr id="16" name="TextBox 15"/>
          <p:cNvSpPr txBox="1"/>
          <p:nvPr/>
        </p:nvSpPr>
        <p:spPr>
          <a:xfrm>
            <a:off x="3429000" y="2651760"/>
            <a:ext cx="274320" cy="365760"/>
          </a:xfrm>
          <a:prstGeom prst="rect">
            <a:avLst/>
          </a:prstGeom>
          <a:noFill/>
        </p:spPr>
        <p:txBody>
          <a:bodyPr wrap="square">
            <a:spAutoFit/>
          </a:bodyPr>
          <a:lstStyle/>
          <a:p>
            <a:pPr algn="ctr">
              <a:defRPr sz="1800" b="0">
                <a:solidFill>
                  <a:srgbClr val="6B7280"/>
                </a:solidFill>
                <a:latin typeface="Calibri"/>
              </a:defRPr>
            </a:pPr>
            <a:r>
              <a:t>→</a:t>
            </a:r>
          </a:p>
        </p:txBody>
      </p:sp>
      <p:sp>
        <p:nvSpPr>
          <p:cNvPr id="17" name="Rounded Rectangle 16"/>
          <p:cNvSpPr/>
          <p:nvPr/>
        </p:nvSpPr>
        <p:spPr>
          <a:xfrm>
            <a:off x="3648456" y="1691640"/>
            <a:ext cx="1481328" cy="301752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151376" y="1874519"/>
            <a:ext cx="411480" cy="41148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19" name="TextBox 18"/>
          <p:cNvSpPr txBox="1"/>
          <p:nvPr/>
        </p:nvSpPr>
        <p:spPr>
          <a:xfrm>
            <a:off x="3739896" y="2377440"/>
            <a:ext cx="1298448" cy="411480"/>
          </a:xfrm>
          <a:prstGeom prst="rect">
            <a:avLst/>
          </a:prstGeom>
          <a:noFill/>
        </p:spPr>
        <p:txBody>
          <a:bodyPr wrap="square">
            <a:spAutoFit/>
          </a:bodyPr>
          <a:lstStyle/>
          <a:p>
            <a:pPr algn="ctr">
              <a:defRPr sz="1300" b="1">
                <a:solidFill>
                  <a:srgbClr val="059669"/>
                </a:solidFill>
                <a:latin typeface="Calibri"/>
              </a:defRPr>
            </a:pPr>
            <a:r>
              <a:t>NPI Check</a:t>
            </a:r>
          </a:p>
        </p:txBody>
      </p:sp>
      <p:sp>
        <p:nvSpPr>
          <p:cNvPr id="20" name="TextBox 19"/>
          <p:cNvSpPr txBox="1"/>
          <p:nvPr/>
        </p:nvSpPr>
        <p:spPr>
          <a:xfrm>
            <a:off x="3694176" y="2834640"/>
            <a:ext cx="1389888" cy="1463040"/>
          </a:xfrm>
          <a:prstGeom prst="rect">
            <a:avLst/>
          </a:prstGeom>
          <a:noFill/>
        </p:spPr>
        <p:txBody>
          <a:bodyPr wrap="square">
            <a:spAutoFit/>
          </a:bodyPr>
          <a:lstStyle/>
          <a:p>
            <a:pPr algn="ctr">
              <a:defRPr sz="1000" b="0">
                <a:solidFill>
                  <a:srgbClr val="374151"/>
                </a:solidFill>
                <a:latin typeface="Calibri"/>
              </a:defRPr>
            </a:pPr>
            <a:r>
              <a:t>System verifies</a:t>
            </a:r>
            <a:br/>
            <a:r>
              <a:t>visitor NPI status</a:t>
            </a:r>
            <a:br/>
            <a:r>
              <a:t>via identity layer</a:t>
            </a:r>
          </a:p>
        </p:txBody>
      </p:sp>
      <p:sp>
        <p:nvSpPr>
          <p:cNvPr id="21" name="TextBox 20"/>
          <p:cNvSpPr txBox="1"/>
          <p:nvPr/>
        </p:nvSpPr>
        <p:spPr>
          <a:xfrm>
            <a:off x="5093208" y="2651760"/>
            <a:ext cx="274320" cy="365760"/>
          </a:xfrm>
          <a:prstGeom prst="rect">
            <a:avLst/>
          </a:prstGeom>
          <a:noFill/>
        </p:spPr>
        <p:txBody>
          <a:bodyPr wrap="square">
            <a:spAutoFit/>
          </a:bodyPr>
          <a:lstStyle/>
          <a:p>
            <a:pPr algn="ctr">
              <a:defRPr sz="1800" b="0">
                <a:solidFill>
                  <a:srgbClr val="6B7280"/>
                </a:solidFill>
                <a:latin typeface="Calibri"/>
              </a:defRPr>
            </a:pPr>
            <a:r>
              <a:t>→</a:t>
            </a:r>
          </a:p>
        </p:txBody>
      </p:sp>
      <p:sp>
        <p:nvSpPr>
          <p:cNvPr id="22" name="Rounded Rectangle 21"/>
          <p:cNvSpPr/>
          <p:nvPr/>
        </p:nvSpPr>
        <p:spPr>
          <a:xfrm>
            <a:off x="5312664" y="1691640"/>
            <a:ext cx="1481328" cy="301752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5583" y="1874519"/>
            <a:ext cx="411480" cy="41148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4</a:t>
            </a:r>
          </a:p>
        </p:txBody>
      </p:sp>
      <p:sp>
        <p:nvSpPr>
          <p:cNvPr id="24" name="TextBox 23"/>
          <p:cNvSpPr txBox="1"/>
          <p:nvPr/>
        </p:nvSpPr>
        <p:spPr>
          <a:xfrm>
            <a:off x="5404103" y="2377440"/>
            <a:ext cx="1298448" cy="411480"/>
          </a:xfrm>
          <a:prstGeom prst="rect">
            <a:avLst/>
          </a:prstGeom>
          <a:noFill/>
        </p:spPr>
        <p:txBody>
          <a:bodyPr wrap="square">
            <a:spAutoFit/>
          </a:bodyPr>
          <a:lstStyle/>
          <a:p>
            <a:pPr algn="ctr">
              <a:defRPr sz="1300" b="1">
                <a:solidFill>
                  <a:srgbClr val="059669"/>
                </a:solidFill>
                <a:latin typeface="Calibri"/>
              </a:defRPr>
            </a:pPr>
            <a:r>
              <a:t>Campaign</a:t>
            </a:r>
            <a:br/>
            <a:r>
              <a:t>Match</a:t>
            </a:r>
          </a:p>
        </p:txBody>
      </p:sp>
      <p:sp>
        <p:nvSpPr>
          <p:cNvPr id="25" name="TextBox 24"/>
          <p:cNvSpPr txBox="1"/>
          <p:nvPr/>
        </p:nvSpPr>
        <p:spPr>
          <a:xfrm>
            <a:off x="5358383" y="2834640"/>
            <a:ext cx="1389888" cy="1463040"/>
          </a:xfrm>
          <a:prstGeom prst="rect">
            <a:avLst/>
          </a:prstGeom>
          <a:noFill/>
        </p:spPr>
        <p:txBody>
          <a:bodyPr wrap="square">
            <a:spAutoFit/>
          </a:bodyPr>
          <a:lstStyle/>
          <a:p>
            <a:pPr algn="ctr">
              <a:defRPr sz="1000" b="0">
                <a:solidFill>
                  <a:srgbClr val="374151"/>
                </a:solidFill>
                <a:latin typeface="Calibri"/>
              </a:defRPr>
            </a:pPr>
            <a:r>
              <a:t>Engine matches</a:t>
            </a:r>
            <a:br/>
            <a:r>
              <a:t>specialty + category</a:t>
            </a:r>
            <a:br/>
            <a:r>
              <a:t>+ active budget</a:t>
            </a:r>
          </a:p>
        </p:txBody>
      </p:sp>
      <p:sp>
        <p:nvSpPr>
          <p:cNvPr id="26" name="TextBox 25"/>
          <p:cNvSpPr txBox="1"/>
          <p:nvPr/>
        </p:nvSpPr>
        <p:spPr>
          <a:xfrm>
            <a:off x="6757416" y="2651760"/>
            <a:ext cx="274320" cy="365760"/>
          </a:xfrm>
          <a:prstGeom prst="rect">
            <a:avLst/>
          </a:prstGeom>
          <a:noFill/>
        </p:spPr>
        <p:txBody>
          <a:bodyPr wrap="square">
            <a:spAutoFit/>
          </a:bodyPr>
          <a:lstStyle/>
          <a:p>
            <a:pPr algn="ctr">
              <a:defRPr sz="1800" b="0">
                <a:solidFill>
                  <a:srgbClr val="6B7280"/>
                </a:solidFill>
                <a:latin typeface="Calibri"/>
              </a:defRPr>
            </a:pPr>
            <a:r>
              <a:t>→</a:t>
            </a:r>
          </a:p>
        </p:txBody>
      </p:sp>
      <p:sp>
        <p:nvSpPr>
          <p:cNvPr id="27" name="Rounded Rectangle 26"/>
          <p:cNvSpPr/>
          <p:nvPr/>
        </p:nvSpPr>
        <p:spPr>
          <a:xfrm>
            <a:off x="6976872" y="1691640"/>
            <a:ext cx="1481328" cy="3017520"/>
          </a:xfrm>
          <a:prstGeom prst="roundRect">
            <a:avLst/>
          </a:prstGeom>
          <a:solidFill>
            <a:srgbClr val="FEF3C7"/>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79792" y="1874519"/>
            <a:ext cx="411480" cy="41148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5</a:t>
            </a:r>
          </a:p>
        </p:txBody>
      </p:sp>
      <p:sp>
        <p:nvSpPr>
          <p:cNvPr id="29" name="TextBox 28"/>
          <p:cNvSpPr txBox="1"/>
          <p:nvPr/>
        </p:nvSpPr>
        <p:spPr>
          <a:xfrm>
            <a:off x="7068312" y="2377440"/>
            <a:ext cx="1298448" cy="411480"/>
          </a:xfrm>
          <a:prstGeom prst="rect">
            <a:avLst/>
          </a:prstGeom>
          <a:noFill/>
        </p:spPr>
        <p:txBody>
          <a:bodyPr wrap="square">
            <a:spAutoFit/>
          </a:bodyPr>
          <a:lstStyle/>
          <a:p>
            <a:pPr algn="ctr">
              <a:defRPr sz="1300" b="1">
                <a:solidFill>
                  <a:srgbClr val="D97706"/>
                </a:solidFill>
                <a:latin typeface="Calibri"/>
              </a:defRPr>
            </a:pPr>
            <a:r>
              <a:t>Snippet</a:t>
            </a:r>
            <a:br/>
            <a:r>
              <a:t>Delivered</a:t>
            </a:r>
          </a:p>
        </p:txBody>
      </p:sp>
      <p:sp>
        <p:nvSpPr>
          <p:cNvPr id="30" name="TextBox 29"/>
          <p:cNvSpPr txBox="1"/>
          <p:nvPr/>
        </p:nvSpPr>
        <p:spPr>
          <a:xfrm>
            <a:off x="7022592" y="2834640"/>
            <a:ext cx="1389888" cy="1463040"/>
          </a:xfrm>
          <a:prstGeom prst="rect">
            <a:avLst/>
          </a:prstGeom>
          <a:noFill/>
        </p:spPr>
        <p:txBody>
          <a:bodyPr wrap="square">
            <a:spAutoFit/>
          </a:bodyPr>
          <a:lstStyle/>
          <a:p>
            <a:pPr algn="ctr">
              <a:defRPr sz="1000" b="0">
                <a:solidFill>
                  <a:srgbClr val="374151"/>
                </a:solidFill>
                <a:latin typeface="Calibri"/>
              </a:defRPr>
            </a:pPr>
            <a:r>
              <a:t>1–10 lines of</a:t>
            </a:r>
            <a:br/>
            <a:r>
              <a:t>HTML text returned</a:t>
            </a:r>
            <a:br/>
            <a:r>
              <a:t>matching page CSS</a:t>
            </a:r>
          </a:p>
        </p:txBody>
      </p:sp>
      <p:sp>
        <p:nvSpPr>
          <p:cNvPr id="31" name="TextBox 30"/>
          <p:cNvSpPr txBox="1"/>
          <p:nvPr/>
        </p:nvSpPr>
        <p:spPr>
          <a:xfrm>
            <a:off x="8421624" y="2651760"/>
            <a:ext cx="274320" cy="365760"/>
          </a:xfrm>
          <a:prstGeom prst="rect">
            <a:avLst/>
          </a:prstGeom>
          <a:noFill/>
        </p:spPr>
        <p:txBody>
          <a:bodyPr wrap="square">
            <a:spAutoFit/>
          </a:bodyPr>
          <a:lstStyle/>
          <a:p>
            <a:pPr algn="ctr">
              <a:defRPr sz="1800" b="0">
                <a:solidFill>
                  <a:srgbClr val="6B7280"/>
                </a:solidFill>
                <a:latin typeface="Calibri"/>
              </a:defRPr>
            </a:pPr>
            <a:r>
              <a:t>→</a:t>
            </a:r>
          </a:p>
        </p:txBody>
      </p:sp>
      <p:sp>
        <p:nvSpPr>
          <p:cNvPr id="32" name="Rounded Rectangle 31"/>
          <p:cNvSpPr/>
          <p:nvPr/>
        </p:nvSpPr>
        <p:spPr>
          <a:xfrm>
            <a:off x="8641080" y="1691640"/>
            <a:ext cx="1481328" cy="3017520"/>
          </a:xfrm>
          <a:prstGeom prst="roundRect">
            <a:avLst/>
          </a:prstGeom>
          <a:solidFill>
            <a:srgbClr val="FEF3C7"/>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44000" y="1874519"/>
            <a:ext cx="411480" cy="41148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6</a:t>
            </a:r>
          </a:p>
        </p:txBody>
      </p:sp>
      <p:sp>
        <p:nvSpPr>
          <p:cNvPr id="34" name="TextBox 33"/>
          <p:cNvSpPr txBox="1"/>
          <p:nvPr/>
        </p:nvSpPr>
        <p:spPr>
          <a:xfrm>
            <a:off x="8732519" y="2377440"/>
            <a:ext cx="1298448" cy="411480"/>
          </a:xfrm>
          <a:prstGeom prst="rect">
            <a:avLst/>
          </a:prstGeom>
          <a:noFill/>
        </p:spPr>
        <p:txBody>
          <a:bodyPr wrap="square">
            <a:spAutoFit/>
          </a:bodyPr>
          <a:lstStyle/>
          <a:p>
            <a:pPr algn="ctr">
              <a:defRPr sz="1300" b="1">
                <a:solidFill>
                  <a:srgbClr val="D97706"/>
                </a:solidFill>
                <a:latin typeface="Calibri"/>
              </a:defRPr>
            </a:pPr>
            <a:r>
              <a:t>Injected</a:t>
            </a:r>
          </a:p>
        </p:txBody>
      </p:sp>
      <p:sp>
        <p:nvSpPr>
          <p:cNvPr id="35" name="TextBox 34"/>
          <p:cNvSpPr txBox="1"/>
          <p:nvPr/>
        </p:nvSpPr>
        <p:spPr>
          <a:xfrm>
            <a:off x="8686800" y="2834640"/>
            <a:ext cx="1389888" cy="1463040"/>
          </a:xfrm>
          <a:prstGeom prst="rect">
            <a:avLst/>
          </a:prstGeom>
          <a:noFill/>
        </p:spPr>
        <p:txBody>
          <a:bodyPr wrap="square">
            <a:spAutoFit/>
          </a:bodyPr>
          <a:lstStyle/>
          <a:p>
            <a:pPr algn="ctr">
              <a:defRPr sz="1000" b="0">
                <a:solidFill>
                  <a:srgbClr val="374151"/>
                </a:solidFill>
                <a:latin typeface="Calibri"/>
              </a:defRPr>
            </a:pPr>
            <a:r>
              <a:t>Text inserted into</a:t>
            </a:r>
            <a:br/>
            <a:r>
              <a:t>article content at</a:t>
            </a:r>
            <a:br/>
            <a:r>
              <a:t>designated location</a:t>
            </a:r>
          </a:p>
        </p:txBody>
      </p:sp>
      <p:sp>
        <p:nvSpPr>
          <p:cNvPr id="36" name="TextBox 35"/>
          <p:cNvSpPr txBox="1"/>
          <p:nvPr/>
        </p:nvSpPr>
        <p:spPr>
          <a:xfrm>
            <a:off x="10085832" y="2651760"/>
            <a:ext cx="274320" cy="365760"/>
          </a:xfrm>
          <a:prstGeom prst="rect">
            <a:avLst/>
          </a:prstGeom>
          <a:noFill/>
        </p:spPr>
        <p:txBody>
          <a:bodyPr wrap="square">
            <a:spAutoFit/>
          </a:bodyPr>
          <a:lstStyle/>
          <a:p>
            <a:pPr algn="ctr">
              <a:defRPr sz="1800" b="0">
                <a:solidFill>
                  <a:srgbClr val="6B7280"/>
                </a:solidFill>
                <a:latin typeface="Calibri"/>
              </a:defRPr>
            </a:pPr>
            <a:r>
              <a:t>→</a:t>
            </a:r>
          </a:p>
        </p:txBody>
      </p:sp>
      <p:sp>
        <p:nvSpPr>
          <p:cNvPr id="37" name="Rounded Rectangle 36"/>
          <p:cNvSpPr/>
          <p:nvPr/>
        </p:nvSpPr>
        <p:spPr>
          <a:xfrm>
            <a:off x="10305288" y="1691640"/>
            <a:ext cx="1481328" cy="3017520"/>
          </a:xfrm>
          <a:prstGeom prst="roundRect">
            <a:avLst/>
          </a:prstGeom>
          <a:solidFill>
            <a:srgbClr val="EDE9FE"/>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808208" y="1874519"/>
            <a:ext cx="411480" cy="41148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7</a:t>
            </a:r>
          </a:p>
        </p:txBody>
      </p:sp>
      <p:sp>
        <p:nvSpPr>
          <p:cNvPr id="39" name="TextBox 38"/>
          <p:cNvSpPr txBox="1"/>
          <p:nvPr/>
        </p:nvSpPr>
        <p:spPr>
          <a:xfrm>
            <a:off x="10396728" y="2377440"/>
            <a:ext cx="1298448" cy="411480"/>
          </a:xfrm>
          <a:prstGeom prst="rect">
            <a:avLst/>
          </a:prstGeom>
          <a:noFill/>
        </p:spPr>
        <p:txBody>
          <a:bodyPr wrap="square">
            <a:spAutoFit/>
          </a:bodyPr>
          <a:lstStyle/>
          <a:p>
            <a:pPr algn="ctr">
              <a:defRPr sz="1300" b="1">
                <a:solidFill>
                  <a:srgbClr val="7C3AED"/>
                </a:solidFill>
                <a:latin typeface="Calibri"/>
              </a:defRPr>
            </a:pPr>
            <a:r>
              <a:t>Reported</a:t>
            </a:r>
          </a:p>
        </p:txBody>
      </p:sp>
      <p:sp>
        <p:nvSpPr>
          <p:cNvPr id="40" name="TextBox 39"/>
          <p:cNvSpPr txBox="1"/>
          <p:nvPr/>
        </p:nvSpPr>
        <p:spPr>
          <a:xfrm>
            <a:off x="10351008" y="2834640"/>
            <a:ext cx="1389888" cy="1463040"/>
          </a:xfrm>
          <a:prstGeom prst="rect">
            <a:avLst/>
          </a:prstGeom>
          <a:noFill/>
        </p:spPr>
        <p:txBody>
          <a:bodyPr wrap="square">
            <a:spAutoFit/>
          </a:bodyPr>
          <a:lstStyle/>
          <a:p>
            <a:pPr algn="ctr">
              <a:defRPr sz="1000" b="0">
                <a:solidFill>
                  <a:srgbClr val="374151"/>
                </a:solidFill>
                <a:latin typeface="Calibri"/>
              </a:defRPr>
            </a:pPr>
            <a:r>
              <a:t>Impression logged:</a:t>
            </a:r>
            <a:br/>
            <a:r>
              <a:t>geo, device, NPI</a:t>
            </a:r>
            <a:br/>
            <a:r>
              <a:t>specialty, campaign</a:t>
            </a:r>
          </a:p>
        </p:txBody>
      </p:sp>
      <p:sp>
        <p:nvSpPr>
          <p:cNvPr id="41" name="Rounded Rectangle 40"/>
          <p:cNvSpPr/>
          <p:nvPr/>
        </p:nvSpPr>
        <p:spPr>
          <a:xfrm>
            <a:off x="640080" y="5029200"/>
            <a:ext cx="5029200" cy="137160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2960" y="5120640"/>
            <a:ext cx="4572000" cy="274320"/>
          </a:xfrm>
          <a:prstGeom prst="rect">
            <a:avLst/>
          </a:prstGeom>
          <a:noFill/>
        </p:spPr>
        <p:txBody>
          <a:bodyPr wrap="square">
            <a:spAutoFit/>
          </a:bodyPr>
          <a:lstStyle/>
          <a:p>
            <a:pPr algn="l">
              <a:defRPr sz="1300" b="1">
                <a:solidFill>
                  <a:srgbClr val="059669"/>
                </a:solidFill>
                <a:latin typeface="Calibri"/>
              </a:defRPr>
            </a:pPr>
            <a:r>
              <a:t>If NPI is valid →</a:t>
            </a:r>
          </a:p>
        </p:txBody>
      </p:sp>
      <p:sp>
        <p:nvSpPr>
          <p:cNvPr id="43" name="TextBox 42"/>
          <p:cNvSpPr txBox="1"/>
          <p:nvPr/>
        </p:nvSpPr>
        <p:spPr>
          <a:xfrm>
            <a:off x="822960" y="5394960"/>
            <a:ext cx="4572000" cy="640080"/>
          </a:xfrm>
          <a:prstGeom prst="rect">
            <a:avLst/>
          </a:prstGeom>
          <a:noFill/>
        </p:spPr>
        <p:txBody>
          <a:bodyPr wrap="square">
            <a:spAutoFit/>
          </a:bodyPr>
          <a:lstStyle/>
          <a:p>
            <a:pPr algn="l">
              <a:defRPr sz="1100" b="0">
                <a:solidFill>
                  <a:srgbClr val="374151"/>
                </a:solidFill>
                <a:latin typeface="Calibri"/>
              </a:defRPr>
            </a:pPr>
            <a:r>
              <a:t>Request snippet payload with unit ID and categories. Engine matches campaign, returns HTML text. Snippet inherits host page typography.</a:t>
            </a:r>
          </a:p>
        </p:txBody>
      </p:sp>
      <p:sp>
        <p:nvSpPr>
          <p:cNvPr id="44" name="Rounded Rectangle 43"/>
          <p:cNvSpPr/>
          <p:nvPr/>
        </p:nvSpPr>
        <p:spPr>
          <a:xfrm>
            <a:off x="5943600" y="5029200"/>
            <a:ext cx="5303520" cy="1371600"/>
          </a:xfrm>
          <a:prstGeom prst="roundRect">
            <a:avLst/>
          </a:prstGeom>
          <a:solidFill>
            <a:srgbClr val="FEE2E2"/>
          </a:solidFill>
          <a:ln w="952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0" y="5120640"/>
            <a:ext cx="4937760" cy="274320"/>
          </a:xfrm>
          <a:prstGeom prst="rect">
            <a:avLst/>
          </a:prstGeom>
          <a:noFill/>
        </p:spPr>
        <p:txBody>
          <a:bodyPr wrap="square">
            <a:spAutoFit/>
          </a:bodyPr>
          <a:lstStyle/>
          <a:p>
            <a:pPr algn="l">
              <a:defRPr sz="1300" b="1">
                <a:solidFill>
                  <a:srgbClr val="DC2626"/>
                </a:solidFill>
                <a:latin typeface="Calibri"/>
              </a:defRPr>
            </a:pPr>
            <a:r>
              <a:t>If NPI is missing or invalid →</a:t>
            </a:r>
          </a:p>
        </p:txBody>
      </p:sp>
      <p:sp>
        <p:nvSpPr>
          <p:cNvPr id="46" name="TextBox 45"/>
          <p:cNvSpPr txBox="1"/>
          <p:nvPr/>
        </p:nvSpPr>
        <p:spPr>
          <a:xfrm>
            <a:off x="6126480" y="5394960"/>
            <a:ext cx="4937760" cy="640080"/>
          </a:xfrm>
          <a:prstGeom prst="rect">
            <a:avLst/>
          </a:prstGeom>
          <a:noFill/>
        </p:spPr>
        <p:txBody>
          <a:bodyPr wrap="square">
            <a:spAutoFit/>
          </a:bodyPr>
          <a:lstStyle/>
          <a:p>
            <a:pPr algn="l">
              <a:defRPr sz="1100" b="0">
                <a:solidFill>
                  <a:srgbClr val="374151"/>
                </a:solidFill>
                <a:latin typeface="Calibri"/>
              </a:defRPr>
            </a:pPr>
            <a:r>
              <a:t>Unit returns no-op. No snippet is requested, no content is injected, and no impression is logged. The page renders normally with no visible change.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Scope Definition</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Clear boundaries to ensure aligned expectations</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6 / 11</a:t>
            </a:r>
          </a:p>
        </p:txBody>
      </p:sp>
      <p:sp>
        <p:nvSpPr>
          <p:cNvPr id="7" name="Rounded Rectangle 6"/>
          <p:cNvSpPr/>
          <p:nvPr/>
        </p:nvSpPr>
        <p:spPr>
          <a:xfrm>
            <a:off x="914400" y="1691640"/>
            <a:ext cx="5029200" cy="457200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783080"/>
            <a:ext cx="4572000" cy="320040"/>
          </a:xfrm>
          <a:prstGeom prst="rect">
            <a:avLst/>
          </a:prstGeom>
          <a:noFill/>
        </p:spPr>
        <p:txBody>
          <a:bodyPr wrap="square">
            <a:spAutoFit/>
          </a:bodyPr>
          <a:lstStyle/>
          <a:p>
            <a:pPr algn="l">
              <a:defRPr sz="1700" b="1">
                <a:solidFill>
                  <a:srgbClr val="059669"/>
                </a:solidFill>
                <a:latin typeface="Calibri"/>
              </a:defRPr>
            </a:pPr>
            <a:r>
              <a:t>In Scope — What Logician Will Build</a:t>
            </a:r>
          </a:p>
        </p:txBody>
      </p:sp>
      <p:sp>
        <p:nvSpPr>
          <p:cNvPr id="9" name="Rectangle 8"/>
          <p:cNvSpPr/>
          <p:nvPr/>
        </p:nvSpPr>
        <p:spPr>
          <a:xfrm>
            <a:off x="1188720" y="2103120"/>
            <a:ext cx="2286000"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286000"/>
            <a:ext cx="4572000" cy="3840480"/>
          </a:xfrm>
          <a:prstGeom prst="rect">
            <a:avLst/>
          </a:prstGeom>
          <a:noFill/>
        </p:spPr>
        <p:txBody>
          <a:bodyPr wrap="square">
            <a:spAutoFit/>
          </a:bodyPr>
          <a:lstStyle/>
          <a:p>
            <a:pPr>
              <a:spcAft>
                <a:spcPts val="600"/>
              </a:spcAft>
              <a:defRPr sz="1200">
                <a:solidFill>
                  <a:srgbClr val="1E293B"/>
                </a:solidFill>
                <a:latin typeface="Calibri"/>
              </a:defRPr>
            </a:pPr>
            <a:r>
              <a:t>  •  JavaScript tag for page-level deployment</a:t>
            </a:r>
          </a:p>
          <a:p>
            <a:pPr>
              <a:spcAft>
                <a:spcPts val="600"/>
              </a:spcAft>
              <a:defRPr sz="1200">
                <a:solidFill>
                  <a:srgbClr val="1E293B"/>
                </a:solidFill>
                <a:latin typeface="Calibri"/>
              </a:defRPr>
            </a:pPr>
            <a:r>
              <a:t>  •  Backend API for NPI verification &amp; campaign matching</a:t>
            </a:r>
          </a:p>
          <a:p>
            <a:pPr>
              <a:spcAft>
                <a:spcPts val="600"/>
              </a:spcAft>
              <a:defRPr sz="1200">
                <a:solidFill>
                  <a:srgbClr val="1E293B"/>
                </a:solidFill>
                <a:latin typeface="Calibri"/>
              </a:defRPr>
            </a:pPr>
            <a:r>
              <a:t>  •  HTML snippet delivery system (crawlable, styled)</a:t>
            </a:r>
          </a:p>
          <a:p>
            <a:pPr>
              <a:spcAft>
                <a:spcPts val="600"/>
              </a:spcAft>
              <a:defRPr sz="1200">
                <a:solidFill>
                  <a:srgbClr val="1E293B"/>
                </a:solidFill>
                <a:latin typeface="Calibri"/>
              </a:defRPr>
            </a:pPr>
            <a:r>
              <a:t>  •  Category-based campaign routing engine</a:t>
            </a:r>
          </a:p>
          <a:p>
            <a:pPr>
              <a:spcAft>
                <a:spcPts val="600"/>
              </a:spcAft>
              <a:defRPr sz="1200">
                <a:solidFill>
                  <a:srgbClr val="1E293B"/>
                </a:solidFill>
                <a:latin typeface="Calibri"/>
              </a:defRPr>
            </a:pPr>
            <a:r>
              <a:t>  •  NPI-based audience targeting integration</a:t>
            </a:r>
          </a:p>
          <a:p>
            <a:pPr>
              <a:spcAft>
                <a:spcPts val="600"/>
              </a:spcAft>
              <a:defRPr sz="1200">
                <a:solidFill>
                  <a:srgbClr val="1E293B"/>
                </a:solidFill>
                <a:latin typeface="Calibri"/>
              </a:defRPr>
            </a:pPr>
            <a:r>
              <a:t>  •  Reporting dashboard with filtering and CSV export</a:t>
            </a:r>
          </a:p>
          <a:p>
            <a:pPr>
              <a:spcAft>
                <a:spcPts val="600"/>
              </a:spcAft>
              <a:defRPr sz="1200">
                <a:solidFill>
                  <a:srgbClr val="1E293B"/>
                </a:solidFill>
                <a:latin typeface="Calibri"/>
              </a:defRPr>
            </a:pPr>
            <a:r>
              <a:t>  •  Multi-site deployment configuration</a:t>
            </a:r>
          </a:p>
          <a:p>
            <a:pPr>
              <a:spcAft>
                <a:spcPts val="600"/>
              </a:spcAft>
              <a:defRPr sz="1200">
                <a:solidFill>
                  <a:srgbClr val="1E293B"/>
                </a:solidFill>
                <a:latin typeface="Calibri"/>
              </a:defRPr>
            </a:pPr>
            <a:r>
              <a:t>  •  Async loading with zero layout shift</a:t>
            </a:r>
          </a:p>
          <a:p>
            <a:pPr>
              <a:spcAft>
                <a:spcPts val="600"/>
              </a:spcAft>
              <a:defRPr sz="1200">
                <a:solidFill>
                  <a:srgbClr val="1E293B"/>
                </a:solidFill>
                <a:latin typeface="Calibri"/>
              </a:defRPr>
            </a:pPr>
            <a:r>
              <a:t>  •  HTTPS-only delivery with cache control</a:t>
            </a:r>
          </a:p>
          <a:p>
            <a:pPr>
              <a:spcAft>
                <a:spcPts val="600"/>
              </a:spcAft>
              <a:defRPr sz="1200">
                <a:solidFill>
                  <a:srgbClr val="1E293B"/>
                </a:solidFill>
                <a:latin typeface="Calibri"/>
              </a:defRPr>
            </a:pPr>
            <a:r>
              <a:t>  •  Deployment documentation and training</a:t>
            </a:r>
          </a:p>
        </p:txBody>
      </p:sp>
      <p:sp>
        <p:nvSpPr>
          <p:cNvPr id="11" name="Rounded Rectangle 10"/>
          <p:cNvSpPr/>
          <p:nvPr/>
        </p:nvSpPr>
        <p:spPr>
          <a:xfrm>
            <a:off x="6217920" y="1691640"/>
            <a:ext cx="5029200" cy="4572000"/>
          </a:xfrm>
          <a:prstGeom prst="round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83080"/>
            <a:ext cx="4572000" cy="320040"/>
          </a:xfrm>
          <a:prstGeom prst="rect">
            <a:avLst/>
          </a:prstGeom>
          <a:noFill/>
        </p:spPr>
        <p:txBody>
          <a:bodyPr wrap="square">
            <a:spAutoFit/>
          </a:bodyPr>
          <a:lstStyle/>
          <a:p>
            <a:pPr algn="l">
              <a:defRPr sz="1700" b="1">
                <a:solidFill>
                  <a:srgbClr val="6B7280"/>
                </a:solidFill>
                <a:latin typeface="Calibri"/>
              </a:defRPr>
            </a:pPr>
            <a:r>
              <a:t>Out of Scope — RxNetwork / Adverge Responsibility</a:t>
            </a:r>
          </a:p>
        </p:txBody>
      </p:sp>
      <p:sp>
        <p:nvSpPr>
          <p:cNvPr id="13" name="Rectangle 12"/>
          <p:cNvSpPr/>
          <p:nvPr/>
        </p:nvSpPr>
        <p:spPr>
          <a:xfrm>
            <a:off x="6492240" y="2103120"/>
            <a:ext cx="2286000" cy="2540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286000"/>
            <a:ext cx="4572000" cy="3840480"/>
          </a:xfrm>
          <a:prstGeom prst="rect">
            <a:avLst/>
          </a:prstGeom>
          <a:noFill/>
        </p:spPr>
        <p:txBody>
          <a:bodyPr wrap="square">
            <a:spAutoFit/>
          </a:bodyPr>
          <a:lstStyle/>
          <a:p>
            <a:pPr>
              <a:spcAft>
                <a:spcPts val="600"/>
              </a:spcAft>
              <a:defRPr sz="1200">
                <a:solidFill>
                  <a:srgbClr val="374151"/>
                </a:solidFill>
                <a:latin typeface="Calibri"/>
              </a:defRPr>
            </a:pPr>
            <a:r>
              <a:t>  •  Medical text snippet content creation</a:t>
            </a:r>
          </a:p>
          <a:p>
            <a:pPr>
              <a:spcAft>
                <a:spcPts val="600"/>
              </a:spcAft>
              <a:defRPr sz="1200">
                <a:solidFill>
                  <a:srgbClr val="374151"/>
                </a:solidFill>
                <a:latin typeface="Calibri"/>
              </a:defRPr>
            </a:pPr>
            <a:r>
              <a:t>  •  Editorial review and compliance approval</a:t>
            </a:r>
          </a:p>
          <a:p>
            <a:pPr>
              <a:spcAft>
                <a:spcPts val="600"/>
              </a:spcAft>
              <a:defRPr sz="1200">
                <a:solidFill>
                  <a:srgbClr val="374151"/>
                </a:solidFill>
                <a:latin typeface="Calibri"/>
              </a:defRPr>
            </a:pPr>
            <a:r>
              <a:t>  •  Pharma buyer relationships and sales</a:t>
            </a:r>
          </a:p>
          <a:p>
            <a:pPr>
              <a:spcAft>
                <a:spcPts val="600"/>
              </a:spcAft>
              <a:defRPr sz="1200">
                <a:solidFill>
                  <a:srgbClr val="374151"/>
                </a:solidFill>
                <a:latin typeface="Calibri"/>
              </a:defRPr>
            </a:pPr>
            <a:r>
              <a:t>  •  NPI identity database (to be provided or integrated)</a:t>
            </a:r>
          </a:p>
          <a:p>
            <a:pPr>
              <a:spcAft>
                <a:spcPts val="600"/>
              </a:spcAft>
              <a:defRPr sz="1200">
                <a:solidFill>
                  <a:srgbClr val="374151"/>
                </a:solidFill>
                <a:latin typeface="Calibri"/>
              </a:defRPr>
            </a:pPr>
            <a:r>
              <a:t>  •  Campaign budget negotiations with advertisers</a:t>
            </a:r>
          </a:p>
          <a:p>
            <a:pPr>
              <a:spcAft>
                <a:spcPts val="600"/>
              </a:spcAft>
              <a:defRPr sz="1200">
                <a:solidFill>
                  <a:srgbClr val="374151"/>
                </a:solidFill>
                <a:latin typeface="Calibri"/>
              </a:defRPr>
            </a:pPr>
            <a:r>
              <a:t>  •  Legal / regulatory review of content</a:t>
            </a:r>
          </a:p>
          <a:p>
            <a:pPr>
              <a:spcAft>
                <a:spcPts val="600"/>
              </a:spcAft>
              <a:defRPr sz="1200">
                <a:solidFill>
                  <a:srgbClr val="374151"/>
                </a:solidFill>
                <a:latin typeface="Calibri"/>
              </a:defRPr>
            </a:pPr>
            <a:r>
              <a:t>  •  Existing ad server (GAM) configuration</a:t>
            </a:r>
          </a:p>
          <a:p>
            <a:pPr>
              <a:spcAft>
                <a:spcPts val="600"/>
              </a:spcAft>
              <a:defRPr sz="1200">
                <a:solidFill>
                  <a:srgbClr val="374151"/>
                </a:solidFill>
                <a:latin typeface="Calibri"/>
              </a:defRPr>
            </a:pPr>
            <a:r>
              <a:t>  •  Site-level content management decisions</a:t>
            </a:r>
          </a:p>
          <a:p>
            <a:pPr>
              <a:spcAft>
                <a:spcPts val="600"/>
              </a:spcAft>
              <a:defRPr sz="1200">
                <a:solidFill>
                  <a:srgbClr val="374151"/>
                </a:solidFill>
                <a:latin typeface="Calibri"/>
              </a:defRPr>
            </a:pPr>
            <a:r>
              <a:t>  •  Pharma brand approval workflows</a:t>
            </a:r>
          </a:p>
          <a:p>
            <a:pPr>
              <a:spcAft>
                <a:spcPts val="600"/>
              </a:spcAft>
              <a:defRPr sz="1200">
                <a:solidFill>
                  <a:srgbClr val="374151"/>
                </a:solidFill>
                <a:latin typeface="Calibri"/>
              </a:defRPr>
            </a:pPr>
            <a:r>
              <a:t>  •  DSP/SSP marketplace setup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Technology &amp; Infrastructure</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Purpose-driven stack optimized for speed, reliability, and compliance</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7 / 11</a:t>
            </a:r>
          </a:p>
        </p:txBody>
      </p:sp>
      <p:sp>
        <p:nvSpPr>
          <p:cNvPr id="7" name="Rounded Rectangle 6"/>
          <p:cNvSpPr/>
          <p:nvPr/>
        </p:nvSpPr>
        <p:spPr>
          <a:xfrm>
            <a:off x="640080" y="1691640"/>
            <a:ext cx="2651760" cy="292608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83080"/>
            <a:ext cx="2377440" cy="320040"/>
          </a:xfrm>
          <a:prstGeom prst="rect">
            <a:avLst/>
          </a:prstGeom>
          <a:noFill/>
        </p:spPr>
        <p:txBody>
          <a:bodyPr wrap="square">
            <a:spAutoFit/>
          </a:bodyPr>
          <a:lstStyle/>
          <a:p>
            <a:pPr algn="ctr">
              <a:defRPr sz="1400" b="1">
                <a:solidFill>
                  <a:srgbClr val="2563EB"/>
                </a:solidFill>
                <a:latin typeface="Calibri"/>
              </a:defRPr>
            </a:pPr>
            <a:r>
              <a:t>Client-Side</a:t>
            </a:r>
          </a:p>
        </p:txBody>
      </p:sp>
      <p:sp>
        <p:nvSpPr>
          <p:cNvPr id="9" name="Rectangle 8"/>
          <p:cNvSpPr/>
          <p:nvPr/>
        </p:nvSpPr>
        <p:spPr>
          <a:xfrm>
            <a:off x="1005840" y="2148840"/>
            <a:ext cx="1920240"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19" y="2286000"/>
            <a:ext cx="2468880" cy="2194560"/>
          </a:xfrm>
          <a:prstGeom prst="rect">
            <a:avLst/>
          </a:prstGeom>
          <a:noFill/>
        </p:spPr>
        <p:txBody>
          <a:bodyPr wrap="square">
            <a:spAutoFit/>
          </a:bodyPr>
          <a:lstStyle/>
          <a:p>
            <a:pPr>
              <a:spcAft>
                <a:spcPts val="600"/>
              </a:spcAft>
              <a:defRPr sz="1100">
                <a:solidFill>
                  <a:srgbClr val="374151"/>
                </a:solidFill>
                <a:latin typeface="Calibri"/>
              </a:defRPr>
            </a:pPr>
            <a:r>
              <a:t>  •  Vanilla JavaScript — tag on publisher pages</a:t>
            </a:r>
          </a:p>
          <a:p>
            <a:pPr>
              <a:spcAft>
                <a:spcPts val="600"/>
              </a:spcAft>
              <a:defRPr sz="1100">
                <a:solidFill>
                  <a:srgbClr val="374151"/>
                </a:solidFill>
                <a:latin typeface="Calibri"/>
              </a:defRPr>
            </a:pPr>
            <a:r>
              <a:t>  •  Zero framework dependencies</a:t>
            </a:r>
          </a:p>
          <a:p>
            <a:pPr>
              <a:spcAft>
                <a:spcPts val="600"/>
              </a:spcAft>
              <a:defRPr sz="1100">
                <a:solidFill>
                  <a:srgbClr val="374151"/>
                </a:solidFill>
                <a:latin typeface="Calibri"/>
              </a:defRPr>
            </a:pPr>
            <a:r>
              <a:t>  •  Async loading, CSS inheritance</a:t>
            </a:r>
          </a:p>
          <a:p>
            <a:pPr>
              <a:spcAft>
                <a:spcPts val="600"/>
              </a:spcAft>
              <a:defRPr sz="1100">
                <a:solidFill>
                  <a:srgbClr val="374151"/>
                </a:solidFill>
                <a:latin typeface="Calibri"/>
              </a:defRPr>
            </a:pPr>
            <a:r>
              <a:t>  •  Under 5KB compressed</a:t>
            </a:r>
          </a:p>
        </p:txBody>
      </p:sp>
      <p:sp>
        <p:nvSpPr>
          <p:cNvPr id="11" name="Rounded Rectangle 10"/>
          <p:cNvSpPr/>
          <p:nvPr/>
        </p:nvSpPr>
        <p:spPr>
          <a:xfrm>
            <a:off x="3474720" y="1691640"/>
            <a:ext cx="2651760" cy="292608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79" y="1783080"/>
            <a:ext cx="2377440" cy="320040"/>
          </a:xfrm>
          <a:prstGeom prst="rect">
            <a:avLst/>
          </a:prstGeom>
          <a:noFill/>
        </p:spPr>
        <p:txBody>
          <a:bodyPr wrap="square">
            <a:spAutoFit/>
          </a:bodyPr>
          <a:lstStyle/>
          <a:p>
            <a:pPr algn="ctr">
              <a:defRPr sz="1400" b="1">
                <a:solidFill>
                  <a:srgbClr val="059669"/>
                </a:solidFill>
                <a:latin typeface="Calibri"/>
              </a:defRPr>
            </a:pPr>
            <a:r>
              <a:t>Backend &amp; API</a:t>
            </a:r>
          </a:p>
        </p:txBody>
      </p:sp>
      <p:sp>
        <p:nvSpPr>
          <p:cNvPr id="13" name="Rectangle 12"/>
          <p:cNvSpPr/>
          <p:nvPr/>
        </p:nvSpPr>
        <p:spPr>
          <a:xfrm>
            <a:off x="3840480" y="2148840"/>
            <a:ext cx="1920240"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2286000"/>
            <a:ext cx="2468880" cy="2194560"/>
          </a:xfrm>
          <a:prstGeom prst="rect">
            <a:avLst/>
          </a:prstGeom>
          <a:noFill/>
        </p:spPr>
        <p:txBody>
          <a:bodyPr wrap="square">
            <a:spAutoFit/>
          </a:bodyPr>
          <a:lstStyle/>
          <a:p>
            <a:pPr>
              <a:spcAft>
                <a:spcPts val="600"/>
              </a:spcAft>
              <a:defRPr sz="1100">
                <a:solidFill>
                  <a:srgbClr val="374151"/>
                </a:solidFill>
                <a:latin typeface="Calibri"/>
              </a:defRPr>
            </a:pPr>
            <a:r>
              <a:t>  •  Python (FastAPI) — campaign matching</a:t>
            </a:r>
          </a:p>
          <a:p>
            <a:pPr>
              <a:spcAft>
                <a:spcPts val="600"/>
              </a:spcAft>
              <a:defRPr sz="1100">
                <a:solidFill>
                  <a:srgbClr val="374151"/>
                </a:solidFill>
                <a:latin typeface="Calibri"/>
              </a:defRPr>
            </a:pPr>
            <a:r>
              <a:t>  •  PostgreSQL — campaigns, impressions</a:t>
            </a:r>
          </a:p>
          <a:p>
            <a:pPr>
              <a:spcAft>
                <a:spcPts val="600"/>
              </a:spcAft>
              <a:defRPr sz="1100">
                <a:solidFill>
                  <a:srgbClr val="374151"/>
                </a:solidFill>
                <a:latin typeface="Calibri"/>
              </a:defRPr>
            </a:pPr>
            <a:r>
              <a:t>  •  Redis — caching and fast lookups</a:t>
            </a:r>
          </a:p>
          <a:p>
            <a:pPr>
              <a:spcAft>
                <a:spcPts val="600"/>
              </a:spcAft>
              <a:defRPr sz="1100">
                <a:solidFill>
                  <a:srgbClr val="374151"/>
                </a:solidFill>
                <a:latin typeface="Calibri"/>
              </a:defRPr>
            </a:pPr>
            <a:r>
              <a:t>  •  RESTful API architecture</a:t>
            </a:r>
          </a:p>
        </p:txBody>
      </p:sp>
      <p:sp>
        <p:nvSpPr>
          <p:cNvPr id="15" name="Rounded Rectangle 14"/>
          <p:cNvSpPr/>
          <p:nvPr/>
        </p:nvSpPr>
        <p:spPr>
          <a:xfrm>
            <a:off x="6309360" y="1691640"/>
            <a:ext cx="2651760" cy="2926080"/>
          </a:xfrm>
          <a:prstGeom prst="roundRect">
            <a:avLst/>
          </a:prstGeom>
          <a:solidFill>
            <a:srgbClr val="FEF3C7"/>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783080"/>
            <a:ext cx="2377440" cy="320040"/>
          </a:xfrm>
          <a:prstGeom prst="rect">
            <a:avLst/>
          </a:prstGeom>
          <a:noFill/>
        </p:spPr>
        <p:txBody>
          <a:bodyPr wrap="square">
            <a:spAutoFit/>
          </a:bodyPr>
          <a:lstStyle/>
          <a:p>
            <a:pPr algn="ctr">
              <a:defRPr sz="1400" b="1">
                <a:solidFill>
                  <a:srgbClr val="D97706"/>
                </a:solidFill>
                <a:latin typeface="Calibri"/>
              </a:defRPr>
            </a:pPr>
            <a:r>
              <a:t>Dashboard</a:t>
            </a:r>
          </a:p>
        </p:txBody>
      </p:sp>
      <p:sp>
        <p:nvSpPr>
          <p:cNvPr id="17" name="Rectangle 16"/>
          <p:cNvSpPr/>
          <p:nvPr/>
        </p:nvSpPr>
        <p:spPr>
          <a:xfrm>
            <a:off x="6675120" y="2148840"/>
            <a:ext cx="1920240" cy="25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286000"/>
            <a:ext cx="2468880" cy="2194560"/>
          </a:xfrm>
          <a:prstGeom prst="rect">
            <a:avLst/>
          </a:prstGeom>
          <a:noFill/>
        </p:spPr>
        <p:txBody>
          <a:bodyPr wrap="square">
            <a:spAutoFit/>
          </a:bodyPr>
          <a:lstStyle/>
          <a:p>
            <a:pPr>
              <a:spcAft>
                <a:spcPts val="600"/>
              </a:spcAft>
              <a:defRPr sz="1100">
                <a:solidFill>
                  <a:srgbClr val="374151"/>
                </a:solidFill>
                <a:latin typeface="Calibri"/>
              </a:defRPr>
            </a:pPr>
            <a:r>
              <a:t>  •  React / Next.js — admin panel</a:t>
            </a:r>
          </a:p>
          <a:p>
            <a:pPr>
              <a:spcAft>
                <a:spcPts val="600"/>
              </a:spcAft>
              <a:defRPr sz="1100">
                <a:solidFill>
                  <a:srgbClr val="374151"/>
                </a:solidFill>
                <a:latin typeface="Calibri"/>
              </a:defRPr>
            </a:pPr>
            <a:r>
              <a:t>  •  Real-time campaign monitoring</a:t>
            </a:r>
          </a:p>
          <a:p>
            <a:pPr>
              <a:spcAft>
                <a:spcPts val="600"/>
              </a:spcAft>
              <a:defRPr sz="1100">
                <a:solidFill>
                  <a:srgbClr val="374151"/>
                </a:solidFill>
                <a:latin typeface="Calibri"/>
              </a:defRPr>
            </a:pPr>
            <a:r>
              <a:t>  •  Filterable reporting views</a:t>
            </a:r>
          </a:p>
          <a:p>
            <a:pPr>
              <a:spcAft>
                <a:spcPts val="600"/>
              </a:spcAft>
              <a:defRPr sz="1100">
                <a:solidFill>
                  <a:srgbClr val="374151"/>
                </a:solidFill>
                <a:latin typeface="Calibri"/>
              </a:defRPr>
            </a:pPr>
            <a:r>
              <a:t>  •  CSV/XLSX export capability</a:t>
            </a:r>
          </a:p>
        </p:txBody>
      </p:sp>
      <p:sp>
        <p:nvSpPr>
          <p:cNvPr id="19" name="Rounded Rectangle 18"/>
          <p:cNvSpPr/>
          <p:nvPr/>
        </p:nvSpPr>
        <p:spPr>
          <a:xfrm>
            <a:off x="9144000" y="1691640"/>
            <a:ext cx="2651760" cy="2926080"/>
          </a:xfrm>
          <a:prstGeom prst="roundRect">
            <a:avLst/>
          </a:prstGeom>
          <a:solidFill>
            <a:srgbClr val="EDE9FE"/>
          </a:solidFill>
          <a:ln w="952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0" y="1783080"/>
            <a:ext cx="2377440" cy="320040"/>
          </a:xfrm>
          <a:prstGeom prst="rect">
            <a:avLst/>
          </a:prstGeom>
          <a:noFill/>
        </p:spPr>
        <p:txBody>
          <a:bodyPr wrap="square">
            <a:spAutoFit/>
          </a:bodyPr>
          <a:lstStyle/>
          <a:p>
            <a:pPr algn="ctr">
              <a:defRPr sz="1400" b="1">
                <a:solidFill>
                  <a:srgbClr val="7C3AED"/>
                </a:solidFill>
                <a:latin typeface="Calibri"/>
              </a:defRPr>
            </a:pPr>
            <a:r>
              <a:t>Infrastructure</a:t>
            </a:r>
          </a:p>
        </p:txBody>
      </p:sp>
      <p:sp>
        <p:nvSpPr>
          <p:cNvPr id="21" name="Rectangle 20"/>
          <p:cNvSpPr/>
          <p:nvPr/>
        </p:nvSpPr>
        <p:spPr>
          <a:xfrm>
            <a:off x="9509760" y="2148840"/>
            <a:ext cx="1920240" cy="25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2286000"/>
            <a:ext cx="2468880" cy="2194560"/>
          </a:xfrm>
          <a:prstGeom prst="rect">
            <a:avLst/>
          </a:prstGeom>
          <a:noFill/>
        </p:spPr>
        <p:txBody>
          <a:bodyPr wrap="square">
            <a:spAutoFit/>
          </a:bodyPr>
          <a:lstStyle/>
          <a:p>
            <a:pPr>
              <a:spcAft>
                <a:spcPts val="600"/>
              </a:spcAft>
              <a:defRPr sz="1100">
                <a:solidFill>
                  <a:srgbClr val="374151"/>
                </a:solidFill>
                <a:latin typeface="Calibri"/>
              </a:defRPr>
            </a:pPr>
            <a:r>
              <a:t>  •  Cloud-hosted (globally distributed)</a:t>
            </a:r>
          </a:p>
          <a:p>
            <a:pPr>
              <a:spcAft>
                <a:spcPts val="600"/>
              </a:spcAft>
              <a:defRPr sz="1100">
                <a:solidFill>
                  <a:srgbClr val="374151"/>
                </a:solidFill>
                <a:latin typeface="Calibri"/>
              </a:defRPr>
            </a:pPr>
            <a:r>
              <a:t>  •  HTTPS-only, cache-controlled</a:t>
            </a:r>
          </a:p>
          <a:p>
            <a:pPr>
              <a:spcAft>
                <a:spcPts val="600"/>
              </a:spcAft>
              <a:defRPr sz="1100">
                <a:solidFill>
                  <a:srgbClr val="374151"/>
                </a:solidFill>
                <a:latin typeface="Calibri"/>
              </a:defRPr>
            </a:pPr>
            <a:r>
              <a:t>  •  Hashed NPI identifiers (no PHI)</a:t>
            </a:r>
          </a:p>
          <a:p>
            <a:pPr>
              <a:spcAft>
                <a:spcPts val="600"/>
              </a:spcAft>
              <a:defRPr sz="1100">
                <a:solidFill>
                  <a:srgbClr val="374151"/>
                </a:solidFill>
                <a:latin typeface="Calibri"/>
              </a:defRPr>
            </a:pPr>
            <a:r>
              <a:t>  •  Auto-scaling, zero-downtime deploys</a:t>
            </a:r>
          </a:p>
        </p:txBody>
      </p:sp>
      <p:sp>
        <p:nvSpPr>
          <p:cNvPr id="23" name="Rounded Rectangle 22"/>
          <p:cNvSpPr/>
          <p:nvPr/>
        </p:nvSpPr>
        <p:spPr>
          <a:xfrm>
            <a:off x="640080" y="4846320"/>
            <a:ext cx="10881360" cy="1645920"/>
          </a:xfrm>
          <a:prstGeom prst="round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937760"/>
            <a:ext cx="10058400" cy="320040"/>
          </a:xfrm>
          <a:prstGeom prst="rect">
            <a:avLst/>
          </a:prstGeom>
          <a:noFill/>
        </p:spPr>
        <p:txBody>
          <a:bodyPr wrap="square">
            <a:spAutoFit/>
          </a:bodyPr>
          <a:lstStyle/>
          <a:p>
            <a:pPr algn="l">
              <a:defRPr sz="1600" b="1">
                <a:solidFill>
                  <a:srgbClr val="2563EB"/>
                </a:solidFill>
                <a:latin typeface="Calibri"/>
              </a:defRPr>
            </a:pPr>
            <a:r>
              <a:t>Security &amp; Compliance</a:t>
            </a:r>
          </a:p>
        </p:txBody>
      </p:sp>
      <p:sp>
        <p:nvSpPr>
          <p:cNvPr id="25" name="TextBox 24"/>
          <p:cNvSpPr txBox="1"/>
          <p:nvPr/>
        </p:nvSpPr>
        <p:spPr>
          <a:xfrm>
            <a:off x="822960" y="5349240"/>
            <a:ext cx="2560320" cy="274320"/>
          </a:xfrm>
          <a:prstGeom prst="rect">
            <a:avLst/>
          </a:prstGeom>
          <a:noFill/>
        </p:spPr>
        <p:txBody>
          <a:bodyPr wrap="square">
            <a:spAutoFit/>
          </a:bodyPr>
          <a:lstStyle/>
          <a:p>
            <a:pPr algn="l">
              <a:defRPr sz="1200" b="1">
                <a:solidFill>
                  <a:srgbClr val="2563EB"/>
                </a:solidFill>
                <a:latin typeface="Calibri"/>
              </a:defRPr>
            </a:pPr>
            <a:r>
              <a:t>No PHI Storage</a:t>
            </a:r>
          </a:p>
        </p:txBody>
      </p:sp>
      <p:sp>
        <p:nvSpPr>
          <p:cNvPr id="26" name="TextBox 25"/>
          <p:cNvSpPr txBox="1"/>
          <p:nvPr/>
        </p:nvSpPr>
        <p:spPr>
          <a:xfrm>
            <a:off x="822960" y="5623560"/>
            <a:ext cx="2560320" cy="548640"/>
          </a:xfrm>
          <a:prstGeom prst="rect">
            <a:avLst/>
          </a:prstGeom>
          <a:noFill/>
        </p:spPr>
        <p:txBody>
          <a:bodyPr wrap="square">
            <a:spAutoFit/>
          </a:bodyPr>
          <a:lstStyle/>
          <a:p>
            <a:pPr algn="l">
              <a:defRPr sz="1000" b="0">
                <a:solidFill>
                  <a:srgbClr val="374151"/>
                </a:solidFill>
                <a:latin typeface="Calibri"/>
              </a:defRPr>
            </a:pPr>
            <a:r>
              <a:t>No protected health information</a:t>
            </a:r>
            <a:br/>
            <a:r>
              <a:t>is stored or transmitted</a:t>
            </a:r>
          </a:p>
        </p:txBody>
      </p:sp>
      <p:sp>
        <p:nvSpPr>
          <p:cNvPr id="27" name="TextBox 26"/>
          <p:cNvSpPr txBox="1"/>
          <p:nvPr/>
        </p:nvSpPr>
        <p:spPr>
          <a:xfrm>
            <a:off x="3611879" y="5349240"/>
            <a:ext cx="2560320" cy="274320"/>
          </a:xfrm>
          <a:prstGeom prst="rect">
            <a:avLst/>
          </a:prstGeom>
          <a:noFill/>
        </p:spPr>
        <p:txBody>
          <a:bodyPr wrap="square">
            <a:spAutoFit/>
          </a:bodyPr>
          <a:lstStyle/>
          <a:p>
            <a:pPr algn="l">
              <a:defRPr sz="1200" b="1">
                <a:solidFill>
                  <a:srgbClr val="059669"/>
                </a:solidFill>
                <a:latin typeface="Calibri"/>
              </a:defRPr>
            </a:pPr>
            <a:r>
              <a:t>Hashed NPI</a:t>
            </a:r>
          </a:p>
        </p:txBody>
      </p:sp>
      <p:sp>
        <p:nvSpPr>
          <p:cNvPr id="28" name="TextBox 27"/>
          <p:cNvSpPr txBox="1"/>
          <p:nvPr/>
        </p:nvSpPr>
        <p:spPr>
          <a:xfrm>
            <a:off x="3611879" y="5623560"/>
            <a:ext cx="2560320" cy="548640"/>
          </a:xfrm>
          <a:prstGeom prst="rect">
            <a:avLst/>
          </a:prstGeom>
          <a:noFill/>
        </p:spPr>
        <p:txBody>
          <a:bodyPr wrap="square">
            <a:spAutoFit/>
          </a:bodyPr>
          <a:lstStyle/>
          <a:p>
            <a:pPr algn="l">
              <a:defRPr sz="1000" b="0">
                <a:solidFill>
                  <a:srgbClr val="374151"/>
                </a:solidFill>
                <a:latin typeface="Calibri"/>
              </a:defRPr>
            </a:pPr>
            <a:r>
              <a:t>NPI targeting relies on hashed</a:t>
            </a:r>
            <a:br/>
            <a:r>
              <a:t>or pseudonymous identifiers</a:t>
            </a:r>
          </a:p>
        </p:txBody>
      </p:sp>
      <p:sp>
        <p:nvSpPr>
          <p:cNvPr id="29" name="TextBox 28"/>
          <p:cNvSpPr txBox="1"/>
          <p:nvPr/>
        </p:nvSpPr>
        <p:spPr>
          <a:xfrm>
            <a:off x="6400800" y="5349240"/>
            <a:ext cx="2560320" cy="274320"/>
          </a:xfrm>
          <a:prstGeom prst="rect">
            <a:avLst/>
          </a:prstGeom>
          <a:noFill/>
        </p:spPr>
        <p:txBody>
          <a:bodyPr wrap="square">
            <a:spAutoFit/>
          </a:bodyPr>
          <a:lstStyle/>
          <a:p>
            <a:pPr algn="l">
              <a:defRPr sz="1200" b="1">
                <a:solidFill>
                  <a:srgbClr val="D97706"/>
                </a:solidFill>
                <a:latin typeface="Calibri"/>
              </a:defRPr>
            </a:pPr>
            <a:r>
              <a:t>HTTPS Only</a:t>
            </a:r>
          </a:p>
        </p:txBody>
      </p:sp>
      <p:sp>
        <p:nvSpPr>
          <p:cNvPr id="30" name="TextBox 29"/>
          <p:cNvSpPr txBox="1"/>
          <p:nvPr/>
        </p:nvSpPr>
        <p:spPr>
          <a:xfrm>
            <a:off x="6400800" y="5623560"/>
            <a:ext cx="2560320" cy="548640"/>
          </a:xfrm>
          <a:prstGeom prst="rect">
            <a:avLst/>
          </a:prstGeom>
          <a:noFill/>
        </p:spPr>
        <p:txBody>
          <a:bodyPr wrap="square">
            <a:spAutoFit/>
          </a:bodyPr>
          <a:lstStyle/>
          <a:p>
            <a:pPr algn="l">
              <a:defRPr sz="1000" b="0">
                <a:solidFill>
                  <a:srgbClr val="374151"/>
                </a:solidFill>
                <a:latin typeface="Calibri"/>
              </a:defRPr>
            </a:pPr>
            <a:r>
              <a:t>All snippet delivery and API</a:t>
            </a:r>
            <a:br/>
            <a:r>
              <a:t>communication over TLS</a:t>
            </a:r>
          </a:p>
        </p:txBody>
      </p:sp>
      <p:sp>
        <p:nvSpPr>
          <p:cNvPr id="31" name="TextBox 30"/>
          <p:cNvSpPr txBox="1"/>
          <p:nvPr/>
        </p:nvSpPr>
        <p:spPr>
          <a:xfrm>
            <a:off x="9189719" y="5349240"/>
            <a:ext cx="2560320" cy="274320"/>
          </a:xfrm>
          <a:prstGeom prst="rect">
            <a:avLst/>
          </a:prstGeom>
          <a:noFill/>
        </p:spPr>
        <p:txBody>
          <a:bodyPr wrap="square">
            <a:spAutoFit/>
          </a:bodyPr>
          <a:lstStyle/>
          <a:p>
            <a:pPr algn="l">
              <a:defRPr sz="1200" b="1">
                <a:solidFill>
                  <a:srgbClr val="7C3AED"/>
                </a:solidFill>
                <a:latin typeface="Calibri"/>
              </a:defRPr>
            </a:pPr>
            <a:r>
              <a:t>Cache Control</a:t>
            </a:r>
          </a:p>
        </p:txBody>
      </p:sp>
      <p:sp>
        <p:nvSpPr>
          <p:cNvPr id="32" name="TextBox 31"/>
          <p:cNvSpPr txBox="1"/>
          <p:nvPr/>
        </p:nvSpPr>
        <p:spPr>
          <a:xfrm>
            <a:off x="9189719" y="5623560"/>
            <a:ext cx="2560320" cy="548640"/>
          </a:xfrm>
          <a:prstGeom prst="rect">
            <a:avLst/>
          </a:prstGeom>
          <a:noFill/>
        </p:spPr>
        <p:txBody>
          <a:bodyPr wrap="square">
            <a:spAutoFit/>
          </a:bodyPr>
          <a:lstStyle/>
          <a:p>
            <a:pPr algn="l">
              <a:defRPr sz="1000" b="0">
                <a:solidFill>
                  <a:srgbClr val="374151"/>
                </a:solidFill>
                <a:latin typeface="Calibri"/>
              </a:defRPr>
            </a:pPr>
            <a:r>
              <a:t>Payloads are cache-controlled</a:t>
            </a:r>
            <a:br/>
            <a:r>
              <a:t>to prevent unintended reuse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Delivery Phases</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Structured rollout — validate early, scale with confidence</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8 / 11</a:t>
            </a:r>
          </a:p>
        </p:txBody>
      </p:sp>
      <p:sp>
        <p:nvSpPr>
          <p:cNvPr id="7" name="Rounded Rectangle 6"/>
          <p:cNvSpPr/>
          <p:nvPr/>
        </p:nvSpPr>
        <p:spPr>
          <a:xfrm>
            <a:off x="640080" y="1691640"/>
            <a:ext cx="3520440" cy="640080"/>
          </a:xfrm>
          <a:prstGeom prst="roundRect">
            <a:avLst/>
          </a:prstGeom>
          <a:solidFill>
            <a:srgbClr val="2563EB"/>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2286000" cy="274320"/>
          </a:xfrm>
          <a:prstGeom prst="rect">
            <a:avLst/>
          </a:prstGeom>
          <a:noFill/>
        </p:spPr>
        <p:txBody>
          <a:bodyPr wrap="square">
            <a:spAutoFit/>
          </a:bodyPr>
          <a:lstStyle/>
          <a:p>
            <a:pPr algn="l">
              <a:defRPr sz="1300" b="1">
                <a:solidFill>
                  <a:srgbClr val="FFFFFF"/>
                </a:solidFill>
                <a:latin typeface="Calibri"/>
              </a:defRPr>
            </a:pPr>
            <a:r>
              <a:t>Phase 1: Core System &amp; Single-Site Pilot</a:t>
            </a:r>
          </a:p>
        </p:txBody>
      </p:sp>
      <p:sp>
        <p:nvSpPr>
          <p:cNvPr id="9" name="TextBox 8"/>
          <p:cNvSpPr txBox="1"/>
          <p:nvPr/>
        </p:nvSpPr>
        <p:spPr>
          <a:xfrm>
            <a:off x="3017520" y="1755648"/>
            <a:ext cx="1005840" cy="274320"/>
          </a:xfrm>
          <a:prstGeom prst="rect">
            <a:avLst/>
          </a:prstGeom>
          <a:noFill/>
        </p:spPr>
        <p:txBody>
          <a:bodyPr wrap="square">
            <a:spAutoFit/>
          </a:bodyPr>
          <a:lstStyle/>
          <a:p>
            <a:pPr algn="r">
              <a:defRPr sz="1200" b="1">
                <a:solidFill>
                  <a:srgbClr val="FFFFFF"/>
                </a:solidFill>
                <a:latin typeface="Calibri"/>
              </a:defRPr>
            </a:pPr>
            <a:r>
              <a:t>6–8 weeks</a:t>
            </a:r>
          </a:p>
        </p:txBody>
      </p:sp>
      <p:sp>
        <p:nvSpPr>
          <p:cNvPr id="10" name="Rounded Rectangle 9"/>
          <p:cNvSpPr/>
          <p:nvPr/>
        </p:nvSpPr>
        <p:spPr>
          <a:xfrm>
            <a:off x="640080" y="2377440"/>
            <a:ext cx="3520440" cy="320040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468880"/>
            <a:ext cx="3200400" cy="2926080"/>
          </a:xfrm>
          <a:prstGeom prst="rect">
            <a:avLst/>
          </a:prstGeom>
          <a:noFill/>
        </p:spPr>
        <p:txBody>
          <a:bodyPr wrap="square">
            <a:spAutoFit/>
          </a:bodyPr>
          <a:lstStyle/>
          <a:p>
            <a:pPr>
              <a:spcAft>
                <a:spcPts val="600"/>
              </a:spcAft>
              <a:defRPr sz="1100">
                <a:solidFill>
                  <a:srgbClr val="1E293B"/>
                </a:solidFill>
                <a:latin typeface="Calibri"/>
              </a:defRPr>
            </a:pPr>
            <a:r>
              <a:t>  •  Backend API (FastAPI + PostgreSQL)</a:t>
            </a:r>
          </a:p>
          <a:p>
            <a:pPr>
              <a:spcAft>
                <a:spcPts val="600"/>
              </a:spcAft>
              <a:defRPr sz="1100">
                <a:solidFill>
                  <a:srgbClr val="1E293B"/>
                </a:solidFill>
                <a:latin typeface="Calibri"/>
              </a:defRPr>
            </a:pPr>
            <a:r>
              <a:t>  •  JavaScript tag development &amp; testing</a:t>
            </a:r>
          </a:p>
          <a:p>
            <a:pPr>
              <a:spcAft>
                <a:spcPts val="600"/>
              </a:spcAft>
              <a:defRPr sz="1100">
                <a:solidFill>
                  <a:srgbClr val="1E293B"/>
                </a:solidFill>
                <a:latin typeface="Calibri"/>
              </a:defRPr>
            </a:pPr>
            <a:r>
              <a:t>  •  NPI verification integration</a:t>
            </a:r>
          </a:p>
          <a:p>
            <a:pPr>
              <a:spcAft>
                <a:spcPts val="600"/>
              </a:spcAft>
              <a:defRPr sz="1100">
                <a:solidFill>
                  <a:srgbClr val="1E293B"/>
                </a:solidFill>
                <a:latin typeface="Calibri"/>
              </a:defRPr>
            </a:pPr>
            <a:r>
              <a:t>  •  Campaign matching engine</a:t>
            </a:r>
          </a:p>
          <a:p>
            <a:pPr>
              <a:spcAft>
                <a:spcPts val="600"/>
              </a:spcAft>
              <a:defRPr sz="1100">
                <a:solidFill>
                  <a:srgbClr val="1E293B"/>
                </a:solidFill>
                <a:latin typeface="Calibri"/>
              </a:defRPr>
            </a:pPr>
            <a:r>
              <a:t>  •  Single-site pilot deployment</a:t>
            </a:r>
          </a:p>
          <a:p>
            <a:pPr>
              <a:spcAft>
                <a:spcPts val="600"/>
              </a:spcAft>
              <a:defRPr sz="1100">
                <a:solidFill>
                  <a:srgbClr val="1E293B"/>
                </a:solidFill>
                <a:latin typeface="Calibri"/>
              </a:defRPr>
            </a:pPr>
            <a:r>
              <a:t>  •  Basic impression logging</a:t>
            </a:r>
          </a:p>
        </p:txBody>
      </p:sp>
      <p:sp>
        <p:nvSpPr>
          <p:cNvPr id="12" name="Rounded Rectangle 11"/>
          <p:cNvSpPr/>
          <p:nvPr/>
        </p:nvSpPr>
        <p:spPr>
          <a:xfrm>
            <a:off x="4389120" y="1691640"/>
            <a:ext cx="3520440" cy="640080"/>
          </a:xfrm>
          <a:prstGeom prst="roundRect">
            <a:avLst/>
          </a:prstGeom>
          <a:solidFill>
            <a:srgbClr val="059669"/>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755648"/>
            <a:ext cx="2286000" cy="274320"/>
          </a:xfrm>
          <a:prstGeom prst="rect">
            <a:avLst/>
          </a:prstGeom>
          <a:noFill/>
        </p:spPr>
        <p:txBody>
          <a:bodyPr wrap="square">
            <a:spAutoFit/>
          </a:bodyPr>
          <a:lstStyle/>
          <a:p>
            <a:pPr algn="l">
              <a:defRPr sz="1300" b="1">
                <a:solidFill>
                  <a:srgbClr val="FFFFFF"/>
                </a:solidFill>
                <a:latin typeface="Calibri"/>
              </a:defRPr>
            </a:pPr>
            <a:r>
              <a:t>Phase 2: Multi-Site Rollout &amp; Targeting</a:t>
            </a:r>
          </a:p>
        </p:txBody>
      </p:sp>
      <p:sp>
        <p:nvSpPr>
          <p:cNvPr id="14" name="TextBox 13"/>
          <p:cNvSpPr txBox="1"/>
          <p:nvPr/>
        </p:nvSpPr>
        <p:spPr>
          <a:xfrm>
            <a:off x="6766560" y="1755648"/>
            <a:ext cx="1005840" cy="274320"/>
          </a:xfrm>
          <a:prstGeom prst="rect">
            <a:avLst/>
          </a:prstGeom>
          <a:noFill/>
        </p:spPr>
        <p:txBody>
          <a:bodyPr wrap="square">
            <a:spAutoFit/>
          </a:bodyPr>
          <a:lstStyle/>
          <a:p>
            <a:pPr algn="r">
              <a:defRPr sz="1200" b="1">
                <a:solidFill>
                  <a:srgbClr val="FFFFFF"/>
                </a:solidFill>
                <a:latin typeface="Calibri"/>
              </a:defRPr>
            </a:pPr>
            <a:r>
              <a:t>4–6 weeks</a:t>
            </a:r>
          </a:p>
        </p:txBody>
      </p:sp>
      <p:sp>
        <p:nvSpPr>
          <p:cNvPr id="15" name="Rounded Rectangle 14"/>
          <p:cNvSpPr/>
          <p:nvPr/>
        </p:nvSpPr>
        <p:spPr>
          <a:xfrm>
            <a:off x="4389120" y="2377440"/>
            <a:ext cx="3520440" cy="320040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2468880"/>
            <a:ext cx="3200400" cy="2926080"/>
          </a:xfrm>
          <a:prstGeom prst="rect">
            <a:avLst/>
          </a:prstGeom>
          <a:noFill/>
        </p:spPr>
        <p:txBody>
          <a:bodyPr wrap="square">
            <a:spAutoFit/>
          </a:bodyPr>
          <a:lstStyle/>
          <a:p>
            <a:pPr>
              <a:spcAft>
                <a:spcPts val="600"/>
              </a:spcAft>
              <a:defRPr sz="1100">
                <a:solidFill>
                  <a:srgbClr val="1E293B"/>
                </a:solidFill>
                <a:latin typeface="Calibri"/>
              </a:defRPr>
            </a:pPr>
            <a:r>
              <a:t>  •  Deploy across all RxNetwork sites</a:t>
            </a:r>
          </a:p>
          <a:p>
            <a:pPr>
              <a:spcAft>
                <a:spcPts val="600"/>
              </a:spcAft>
              <a:defRPr sz="1100">
                <a:solidFill>
                  <a:srgbClr val="1E293B"/>
                </a:solidFill>
                <a:latin typeface="Calibri"/>
              </a:defRPr>
            </a:pPr>
            <a:r>
              <a:t>  •  Full medical category targeting</a:t>
            </a:r>
          </a:p>
          <a:p>
            <a:pPr>
              <a:spcAft>
                <a:spcPts val="600"/>
              </a:spcAft>
              <a:defRPr sz="1100">
                <a:solidFill>
                  <a:srgbClr val="1E293B"/>
                </a:solidFill>
                <a:latin typeface="Calibri"/>
              </a:defRPr>
            </a:pPr>
            <a:r>
              <a:t>  •  NPI specialty segmentation</a:t>
            </a:r>
          </a:p>
          <a:p>
            <a:pPr>
              <a:spcAft>
                <a:spcPts val="600"/>
              </a:spcAft>
              <a:defRPr sz="1100">
                <a:solidFill>
                  <a:srgbClr val="1E293B"/>
                </a:solidFill>
                <a:latin typeface="Calibri"/>
              </a:defRPr>
            </a:pPr>
            <a:r>
              <a:t>  •  Site-specific configuration</a:t>
            </a:r>
          </a:p>
          <a:p>
            <a:pPr>
              <a:spcAft>
                <a:spcPts val="600"/>
              </a:spcAft>
              <a:defRPr sz="1100">
                <a:solidFill>
                  <a:srgbClr val="1E293B"/>
                </a:solidFill>
                <a:latin typeface="Calibri"/>
              </a:defRPr>
            </a:pPr>
            <a:r>
              <a:t>  •  Performance optimization</a:t>
            </a:r>
          </a:p>
          <a:p>
            <a:pPr>
              <a:spcAft>
                <a:spcPts val="600"/>
              </a:spcAft>
              <a:defRPr sz="1100">
                <a:solidFill>
                  <a:srgbClr val="1E293B"/>
                </a:solidFill>
                <a:latin typeface="Calibri"/>
              </a:defRPr>
            </a:pPr>
            <a:r>
              <a:t>  •  Frequency capping (if required)</a:t>
            </a:r>
          </a:p>
        </p:txBody>
      </p:sp>
      <p:sp>
        <p:nvSpPr>
          <p:cNvPr id="17" name="Rounded Rectangle 16"/>
          <p:cNvSpPr/>
          <p:nvPr/>
        </p:nvSpPr>
        <p:spPr>
          <a:xfrm>
            <a:off x="8138159" y="1691640"/>
            <a:ext cx="3520440" cy="640080"/>
          </a:xfrm>
          <a:prstGeom prst="roundRect">
            <a:avLst/>
          </a:prstGeom>
          <a:solidFill>
            <a:srgbClr val="D97706"/>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19" y="1755648"/>
            <a:ext cx="2286000" cy="274320"/>
          </a:xfrm>
          <a:prstGeom prst="rect">
            <a:avLst/>
          </a:prstGeom>
          <a:noFill/>
        </p:spPr>
        <p:txBody>
          <a:bodyPr wrap="square">
            <a:spAutoFit/>
          </a:bodyPr>
          <a:lstStyle/>
          <a:p>
            <a:pPr algn="l">
              <a:defRPr sz="1300" b="1">
                <a:solidFill>
                  <a:srgbClr val="FFFFFF"/>
                </a:solidFill>
                <a:latin typeface="Calibri"/>
              </a:defRPr>
            </a:pPr>
            <a:r>
              <a:t>Phase 3: Dashboard, Reporting &amp; Handover</a:t>
            </a:r>
          </a:p>
        </p:txBody>
      </p:sp>
      <p:sp>
        <p:nvSpPr>
          <p:cNvPr id="19" name="TextBox 18"/>
          <p:cNvSpPr txBox="1"/>
          <p:nvPr/>
        </p:nvSpPr>
        <p:spPr>
          <a:xfrm>
            <a:off x="10515599" y="1755648"/>
            <a:ext cx="1005840" cy="274320"/>
          </a:xfrm>
          <a:prstGeom prst="rect">
            <a:avLst/>
          </a:prstGeom>
          <a:noFill/>
        </p:spPr>
        <p:txBody>
          <a:bodyPr wrap="square">
            <a:spAutoFit/>
          </a:bodyPr>
          <a:lstStyle/>
          <a:p>
            <a:pPr algn="r">
              <a:defRPr sz="1200" b="1">
                <a:solidFill>
                  <a:srgbClr val="FFFFFF"/>
                </a:solidFill>
                <a:latin typeface="Calibri"/>
              </a:defRPr>
            </a:pPr>
            <a:r>
              <a:t>4–6 weeks</a:t>
            </a:r>
          </a:p>
        </p:txBody>
      </p:sp>
      <p:sp>
        <p:nvSpPr>
          <p:cNvPr id="20" name="Rounded Rectangle 19"/>
          <p:cNvSpPr/>
          <p:nvPr/>
        </p:nvSpPr>
        <p:spPr>
          <a:xfrm>
            <a:off x="8138159" y="2377440"/>
            <a:ext cx="3520440" cy="3200400"/>
          </a:xfrm>
          <a:prstGeom prst="roundRect">
            <a:avLst/>
          </a:prstGeom>
          <a:solidFill>
            <a:srgbClr val="FEF3C7"/>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5319" y="2468880"/>
            <a:ext cx="3200400" cy="2926080"/>
          </a:xfrm>
          <a:prstGeom prst="rect">
            <a:avLst/>
          </a:prstGeom>
          <a:noFill/>
        </p:spPr>
        <p:txBody>
          <a:bodyPr wrap="square">
            <a:spAutoFit/>
          </a:bodyPr>
          <a:lstStyle/>
          <a:p>
            <a:pPr>
              <a:spcAft>
                <a:spcPts val="600"/>
              </a:spcAft>
              <a:defRPr sz="1100">
                <a:solidFill>
                  <a:srgbClr val="1E293B"/>
                </a:solidFill>
                <a:latin typeface="Calibri"/>
              </a:defRPr>
            </a:pPr>
            <a:r>
              <a:t>  •  Admin dashboard (React/Next.js)</a:t>
            </a:r>
          </a:p>
          <a:p>
            <a:pPr>
              <a:spcAft>
                <a:spcPts val="600"/>
              </a:spcAft>
              <a:defRPr sz="1100">
                <a:solidFill>
                  <a:srgbClr val="1E293B"/>
                </a:solidFill>
                <a:latin typeface="Calibri"/>
              </a:defRPr>
            </a:pPr>
            <a:r>
              <a:t>  •  Campaign management interface</a:t>
            </a:r>
          </a:p>
          <a:p>
            <a:pPr>
              <a:spcAft>
                <a:spcPts val="600"/>
              </a:spcAft>
              <a:defRPr sz="1100">
                <a:solidFill>
                  <a:srgbClr val="1E293B"/>
                </a:solidFill>
                <a:latin typeface="Calibri"/>
              </a:defRPr>
            </a:pPr>
            <a:r>
              <a:t>  •  Reporting with filters &amp; charts</a:t>
            </a:r>
          </a:p>
          <a:p>
            <a:pPr>
              <a:spcAft>
                <a:spcPts val="600"/>
              </a:spcAft>
              <a:defRPr sz="1100">
                <a:solidFill>
                  <a:srgbClr val="1E293B"/>
                </a:solidFill>
                <a:latin typeface="Calibri"/>
              </a:defRPr>
            </a:pPr>
            <a:r>
              <a:t>  •  CSV/XLSX export</a:t>
            </a:r>
          </a:p>
          <a:p>
            <a:pPr>
              <a:spcAft>
                <a:spcPts val="600"/>
              </a:spcAft>
              <a:defRPr sz="1100">
                <a:solidFill>
                  <a:srgbClr val="1E293B"/>
                </a:solidFill>
                <a:latin typeface="Calibri"/>
              </a:defRPr>
            </a:pPr>
            <a:r>
              <a:t>  •  Security hardening &amp; audit</a:t>
            </a:r>
          </a:p>
          <a:p>
            <a:pPr>
              <a:spcAft>
                <a:spcPts val="600"/>
              </a:spcAft>
              <a:defRPr sz="1100">
                <a:solidFill>
                  <a:srgbClr val="1E293B"/>
                </a:solidFill>
                <a:latin typeface="Calibri"/>
              </a:defRPr>
            </a:pPr>
            <a:r>
              <a:t>  •  Documentation &amp; team training</a:t>
            </a:r>
          </a:p>
        </p:txBody>
      </p:sp>
      <p:sp>
        <p:nvSpPr>
          <p:cNvPr id="22" name="Rounded Rectangle 21"/>
          <p:cNvSpPr/>
          <p:nvPr/>
        </p:nvSpPr>
        <p:spPr>
          <a:xfrm>
            <a:off x="640080" y="5806440"/>
            <a:ext cx="10881360" cy="731520"/>
          </a:xfrm>
          <a:prstGeom prst="roundRect">
            <a:avLst/>
          </a:prstGeom>
          <a:solidFill>
            <a:srgbClr val="F1F5F9"/>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897880"/>
            <a:ext cx="10058400" cy="228600"/>
          </a:xfrm>
          <a:prstGeom prst="rect">
            <a:avLst/>
          </a:prstGeom>
          <a:noFill/>
        </p:spPr>
        <p:txBody>
          <a:bodyPr wrap="square">
            <a:spAutoFit/>
          </a:bodyPr>
          <a:lstStyle/>
          <a:p>
            <a:pPr algn="ctr">
              <a:defRPr sz="1600" b="1">
                <a:solidFill>
                  <a:srgbClr val="2563EB"/>
                </a:solidFill>
                <a:latin typeface="Calibri"/>
              </a:defRPr>
            </a:pPr>
            <a:r>
              <a:t>Total Timeline: 14–20 weeks</a:t>
            </a:r>
          </a:p>
        </p:txBody>
      </p:sp>
      <p:sp>
        <p:nvSpPr>
          <p:cNvPr id="24" name="TextBox 23"/>
          <p:cNvSpPr txBox="1"/>
          <p:nvPr/>
        </p:nvSpPr>
        <p:spPr>
          <a:xfrm>
            <a:off x="914400" y="6172200"/>
            <a:ext cx="10058400" cy="228600"/>
          </a:xfrm>
          <a:prstGeom prst="rect">
            <a:avLst/>
          </a:prstGeom>
          <a:noFill/>
        </p:spPr>
        <p:txBody>
          <a:bodyPr wrap="square">
            <a:spAutoFit/>
          </a:bodyPr>
          <a:lstStyle/>
          <a:p>
            <a:pPr algn="ctr">
              <a:defRPr sz="1200" b="0">
                <a:solidFill>
                  <a:srgbClr val="374151"/>
                </a:solidFill>
                <a:latin typeface="Calibri"/>
              </a:defRPr>
            </a:pPr>
            <a:r>
              <a:t>Phase 1 delivers a working system on one site  •  Each phase builds on the validated output of the previous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Investment</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Phase-based pricing — pay as we deliver, validate as we build</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9 / 11</a:t>
            </a:r>
          </a:p>
        </p:txBody>
      </p:sp>
      <p:sp>
        <p:nvSpPr>
          <p:cNvPr id="7" name="Rounded Rectangle 6"/>
          <p:cNvSpPr/>
          <p:nvPr/>
        </p:nvSpPr>
        <p:spPr>
          <a:xfrm>
            <a:off x="640080" y="1691640"/>
            <a:ext cx="3520440" cy="292608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28800"/>
            <a:ext cx="3154680" cy="274320"/>
          </a:xfrm>
          <a:prstGeom prst="rect">
            <a:avLst/>
          </a:prstGeom>
          <a:noFill/>
        </p:spPr>
        <p:txBody>
          <a:bodyPr wrap="square">
            <a:spAutoFit/>
          </a:bodyPr>
          <a:lstStyle/>
          <a:p>
            <a:pPr algn="l">
              <a:defRPr sz="1200" b="1">
                <a:solidFill>
                  <a:srgbClr val="2563EB"/>
                </a:solidFill>
                <a:latin typeface="Calibri"/>
              </a:defRPr>
            </a:pPr>
            <a:r>
              <a:t>Phase 1</a:t>
            </a:r>
          </a:p>
        </p:txBody>
      </p:sp>
      <p:sp>
        <p:nvSpPr>
          <p:cNvPr id="9" name="TextBox 8"/>
          <p:cNvSpPr txBox="1"/>
          <p:nvPr/>
        </p:nvSpPr>
        <p:spPr>
          <a:xfrm>
            <a:off x="822959" y="2103120"/>
            <a:ext cx="3154680" cy="320040"/>
          </a:xfrm>
          <a:prstGeom prst="rect">
            <a:avLst/>
          </a:prstGeom>
          <a:noFill/>
        </p:spPr>
        <p:txBody>
          <a:bodyPr wrap="square">
            <a:spAutoFit/>
          </a:bodyPr>
          <a:lstStyle/>
          <a:p>
            <a:pPr algn="l">
              <a:defRPr sz="1500" b="1">
                <a:solidFill>
                  <a:srgbClr val="1E293B"/>
                </a:solidFill>
                <a:latin typeface="Calibri"/>
              </a:defRPr>
            </a:pPr>
            <a:r>
              <a:t>Core System &amp; Pilot</a:t>
            </a:r>
          </a:p>
        </p:txBody>
      </p:sp>
      <p:sp>
        <p:nvSpPr>
          <p:cNvPr id="10" name="Rectangle 9"/>
          <p:cNvSpPr/>
          <p:nvPr/>
        </p:nvSpPr>
        <p:spPr>
          <a:xfrm>
            <a:off x="914400" y="2468880"/>
            <a:ext cx="1828800"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06040"/>
            <a:ext cx="3154680" cy="548640"/>
          </a:xfrm>
          <a:prstGeom prst="rect">
            <a:avLst/>
          </a:prstGeom>
          <a:noFill/>
        </p:spPr>
        <p:txBody>
          <a:bodyPr wrap="square">
            <a:spAutoFit/>
          </a:bodyPr>
          <a:lstStyle/>
          <a:p>
            <a:pPr algn="ctr">
              <a:defRPr sz="2400" b="1">
                <a:solidFill>
                  <a:srgbClr val="2563EB"/>
                </a:solidFill>
                <a:latin typeface="Calibri"/>
              </a:defRPr>
            </a:pPr>
            <a:r>
              <a:t>$8,000 – $12,000</a:t>
            </a:r>
          </a:p>
        </p:txBody>
      </p:sp>
      <p:sp>
        <p:nvSpPr>
          <p:cNvPr id="12" name="TextBox 11"/>
          <p:cNvSpPr txBox="1"/>
          <p:nvPr/>
        </p:nvSpPr>
        <p:spPr>
          <a:xfrm>
            <a:off x="822959" y="3246120"/>
            <a:ext cx="3154680" cy="914400"/>
          </a:xfrm>
          <a:prstGeom prst="rect">
            <a:avLst/>
          </a:prstGeom>
          <a:noFill/>
        </p:spPr>
        <p:txBody>
          <a:bodyPr wrap="square">
            <a:spAutoFit/>
          </a:bodyPr>
          <a:lstStyle/>
          <a:p>
            <a:pPr algn="ctr">
              <a:defRPr sz="1200" b="0">
                <a:solidFill>
                  <a:srgbClr val="374151"/>
                </a:solidFill>
                <a:latin typeface="Calibri"/>
              </a:defRPr>
            </a:pPr>
            <a:r>
              <a:t>Backend, JS tag, NPI integration,</a:t>
            </a:r>
            <a:br/>
            <a:r>
              <a:t>single-site deployment</a:t>
            </a:r>
          </a:p>
        </p:txBody>
      </p:sp>
      <p:sp>
        <p:nvSpPr>
          <p:cNvPr id="13" name="Rounded Rectangle 12"/>
          <p:cNvSpPr/>
          <p:nvPr/>
        </p:nvSpPr>
        <p:spPr>
          <a:xfrm>
            <a:off x="4389120" y="1691640"/>
            <a:ext cx="3520440" cy="292608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1828800"/>
            <a:ext cx="3154680" cy="274320"/>
          </a:xfrm>
          <a:prstGeom prst="rect">
            <a:avLst/>
          </a:prstGeom>
          <a:noFill/>
        </p:spPr>
        <p:txBody>
          <a:bodyPr wrap="square">
            <a:spAutoFit/>
          </a:bodyPr>
          <a:lstStyle/>
          <a:p>
            <a:pPr algn="l">
              <a:defRPr sz="1200" b="1">
                <a:solidFill>
                  <a:srgbClr val="059669"/>
                </a:solidFill>
                <a:latin typeface="Calibri"/>
              </a:defRPr>
            </a:pPr>
            <a:r>
              <a:t>Phase 2</a:t>
            </a:r>
          </a:p>
        </p:txBody>
      </p:sp>
      <p:sp>
        <p:nvSpPr>
          <p:cNvPr id="15" name="TextBox 14"/>
          <p:cNvSpPr txBox="1"/>
          <p:nvPr/>
        </p:nvSpPr>
        <p:spPr>
          <a:xfrm>
            <a:off x="4572000" y="2103120"/>
            <a:ext cx="3154680" cy="320040"/>
          </a:xfrm>
          <a:prstGeom prst="rect">
            <a:avLst/>
          </a:prstGeom>
          <a:noFill/>
        </p:spPr>
        <p:txBody>
          <a:bodyPr wrap="square">
            <a:spAutoFit/>
          </a:bodyPr>
          <a:lstStyle/>
          <a:p>
            <a:pPr algn="l">
              <a:defRPr sz="1500" b="1">
                <a:solidFill>
                  <a:srgbClr val="1E293B"/>
                </a:solidFill>
                <a:latin typeface="Calibri"/>
              </a:defRPr>
            </a:pPr>
            <a:r>
              <a:t>Multi-Site Rollout</a:t>
            </a:r>
          </a:p>
        </p:txBody>
      </p:sp>
      <p:sp>
        <p:nvSpPr>
          <p:cNvPr id="16" name="Rectangle 15"/>
          <p:cNvSpPr/>
          <p:nvPr/>
        </p:nvSpPr>
        <p:spPr>
          <a:xfrm>
            <a:off x="4663440" y="2468880"/>
            <a:ext cx="1828800"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2606040"/>
            <a:ext cx="3154680" cy="548640"/>
          </a:xfrm>
          <a:prstGeom prst="rect">
            <a:avLst/>
          </a:prstGeom>
          <a:noFill/>
        </p:spPr>
        <p:txBody>
          <a:bodyPr wrap="square">
            <a:spAutoFit/>
          </a:bodyPr>
          <a:lstStyle/>
          <a:p>
            <a:pPr algn="ctr">
              <a:defRPr sz="2400" b="1">
                <a:solidFill>
                  <a:srgbClr val="059669"/>
                </a:solidFill>
                <a:latin typeface="Calibri"/>
              </a:defRPr>
            </a:pPr>
            <a:r>
              <a:t>$5,000 – $8,000</a:t>
            </a:r>
          </a:p>
        </p:txBody>
      </p:sp>
      <p:sp>
        <p:nvSpPr>
          <p:cNvPr id="18" name="TextBox 17"/>
          <p:cNvSpPr txBox="1"/>
          <p:nvPr/>
        </p:nvSpPr>
        <p:spPr>
          <a:xfrm>
            <a:off x="4572000" y="3246120"/>
            <a:ext cx="3154680" cy="914400"/>
          </a:xfrm>
          <a:prstGeom prst="rect">
            <a:avLst/>
          </a:prstGeom>
          <a:noFill/>
        </p:spPr>
        <p:txBody>
          <a:bodyPr wrap="square">
            <a:spAutoFit/>
          </a:bodyPr>
          <a:lstStyle/>
          <a:p>
            <a:pPr algn="ctr">
              <a:defRPr sz="1200" b="0">
                <a:solidFill>
                  <a:srgbClr val="374151"/>
                </a:solidFill>
                <a:latin typeface="Calibri"/>
              </a:defRPr>
            </a:pPr>
            <a:r>
              <a:t>All sites, full targeting,</a:t>
            </a:r>
            <a:br/>
            <a:r>
              <a:t>performance optimization</a:t>
            </a:r>
          </a:p>
        </p:txBody>
      </p:sp>
      <p:sp>
        <p:nvSpPr>
          <p:cNvPr id="19" name="Rounded Rectangle 18"/>
          <p:cNvSpPr/>
          <p:nvPr/>
        </p:nvSpPr>
        <p:spPr>
          <a:xfrm>
            <a:off x="8138159" y="1691640"/>
            <a:ext cx="3520440" cy="2926080"/>
          </a:xfrm>
          <a:prstGeom prst="roundRect">
            <a:avLst/>
          </a:prstGeom>
          <a:solidFill>
            <a:srgbClr val="FEF3C7"/>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9" y="1828800"/>
            <a:ext cx="3154680" cy="274320"/>
          </a:xfrm>
          <a:prstGeom prst="rect">
            <a:avLst/>
          </a:prstGeom>
          <a:noFill/>
        </p:spPr>
        <p:txBody>
          <a:bodyPr wrap="square">
            <a:spAutoFit/>
          </a:bodyPr>
          <a:lstStyle/>
          <a:p>
            <a:pPr algn="l">
              <a:defRPr sz="1200" b="1">
                <a:solidFill>
                  <a:srgbClr val="D97706"/>
                </a:solidFill>
                <a:latin typeface="Calibri"/>
              </a:defRPr>
            </a:pPr>
            <a:r>
              <a:t>Phase 3</a:t>
            </a:r>
          </a:p>
        </p:txBody>
      </p:sp>
      <p:sp>
        <p:nvSpPr>
          <p:cNvPr id="21" name="TextBox 20"/>
          <p:cNvSpPr txBox="1"/>
          <p:nvPr/>
        </p:nvSpPr>
        <p:spPr>
          <a:xfrm>
            <a:off x="8321039" y="2103120"/>
            <a:ext cx="3154680" cy="320040"/>
          </a:xfrm>
          <a:prstGeom prst="rect">
            <a:avLst/>
          </a:prstGeom>
          <a:noFill/>
        </p:spPr>
        <p:txBody>
          <a:bodyPr wrap="square">
            <a:spAutoFit/>
          </a:bodyPr>
          <a:lstStyle/>
          <a:p>
            <a:pPr algn="l">
              <a:defRPr sz="1500" b="1">
                <a:solidFill>
                  <a:srgbClr val="1E293B"/>
                </a:solidFill>
                <a:latin typeface="Calibri"/>
              </a:defRPr>
            </a:pPr>
            <a:r>
              <a:t>Dashboard &amp; Handover</a:t>
            </a:r>
          </a:p>
        </p:txBody>
      </p:sp>
      <p:sp>
        <p:nvSpPr>
          <p:cNvPr id="22" name="Rectangle 21"/>
          <p:cNvSpPr/>
          <p:nvPr/>
        </p:nvSpPr>
        <p:spPr>
          <a:xfrm>
            <a:off x="8412480" y="2468880"/>
            <a:ext cx="1828800" cy="254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39" y="2606040"/>
            <a:ext cx="3154680" cy="548640"/>
          </a:xfrm>
          <a:prstGeom prst="rect">
            <a:avLst/>
          </a:prstGeom>
          <a:noFill/>
        </p:spPr>
        <p:txBody>
          <a:bodyPr wrap="square">
            <a:spAutoFit/>
          </a:bodyPr>
          <a:lstStyle/>
          <a:p>
            <a:pPr algn="ctr">
              <a:defRPr sz="2400" b="1">
                <a:solidFill>
                  <a:srgbClr val="D97706"/>
                </a:solidFill>
                <a:latin typeface="Calibri"/>
              </a:defRPr>
            </a:pPr>
            <a:r>
              <a:t>$5,000 – $8,000</a:t>
            </a:r>
          </a:p>
        </p:txBody>
      </p:sp>
      <p:sp>
        <p:nvSpPr>
          <p:cNvPr id="24" name="TextBox 23"/>
          <p:cNvSpPr txBox="1"/>
          <p:nvPr/>
        </p:nvSpPr>
        <p:spPr>
          <a:xfrm>
            <a:off x="8321039" y="3246120"/>
            <a:ext cx="3154680" cy="914400"/>
          </a:xfrm>
          <a:prstGeom prst="rect">
            <a:avLst/>
          </a:prstGeom>
          <a:noFill/>
        </p:spPr>
        <p:txBody>
          <a:bodyPr wrap="square">
            <a:spAutoFit/>
          </a:bodyPr>
          <a:lstStyle/>
          <a:p>
            <a:pPr algn="ctr">
              <a:defRPr sz="1200" b="0">
                <a:solidFill>
                  <a:srgbClr val="374151"/>
                </a:solidFill>
                <a:latin typeface="Calibri"/>
              </a:defRPr>
            </a:pPr>
            <a:r>
              <a:t>Admin panel, reporting,</a:t>
            </a:r>
            <a:br/>
            <a:r>
              <a:t>compliance, documentation</a:t>
            </a:r>
          </a:p>
        </p:txBody>
      </p:sp>
      <p:sp>
        <p:nvSpPr>
          <p:cNvPr id="25" name="Rounded Rectangle 24"/>
          <p:cNvSpPr/>
          <p:nvPr/>
        </p:nvSpPr>
        <p:spPr>
          <a:xfrm>
            <a:off x="640080" y="4846320"/>
            <a:ext cx="10881360" cy="64008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937760"/>
            <a:ext cx="4572000" cy="365760"/>
          </a:xfrm>
          <a:prstGeom prst="rect">
            <a:avLst/>
          </a:prstGeom>
          <a:noFill/>
        </p:spPr>
        <p:txBody>
          <a:bodyPr wrap="square">
            <a:spAutoFit/>
          </a:bodyPr>
          <a:lstStyle/>
          <a:p>
            <a:pPr algn="l">
              <a:defRPr sz="1600" b="1">
                <a:solidFill>
                  <a:srgbClr val="2563EB"/>
                </a:solidFill>
                <a:latin typeface="Calibri"/>
              </a:defRPr>
            </a:pPr>
            <a:r>
              <a:t>Total Estimated Investment</a:t>
            </a:r>
          </a:p>
        </p:txBody>
      </p:sp>
      <p:sp>
        <p:nvSpPr>
          <p:cNvPr id="27" name="TextBox 26"/>
          <p:cNvSpPr txBox="1"/>
          <p:nvPr/>
        </p:nvSpPr>
        <p:spPr>
          <a:xfrm>
            <a:off x="6400800" y="4892040"/>
            <a:ext cx="4846320" cy="457200"/>
          </a:xfrm>
          <a:prstGeom prst="rect">
            <a:avLst/>
          </a:prstGeom>
          <a:noFill/>
        </p:spPr>
        <p:txBody>
          <a:bodyPr wrap="square">
            <a:spAutoFit/>
          </a:bodyPr>
          <a:lstStyle/>
          <a:p>
            <a:pPr algn="r">
              <a:defRPr sz="2800" b="1">
                <a:solidFill>
                  <a:srgbClr val="2563EB"/>
                </a:solidFill>
                <a:latin typeface="Calibri"/>
              </a:defRPr>
            </a:pPr>
            <a:r>
              <a:t>$18,000 – $28,000</a:t>
            </a:r>
          </a:p>
        </p:txBody>
      </p:sp>
      <p:sp>
        <p:nvSpPr>
          <p:cNvPr id="28" name="Rounded Rectangle 27"/>
          <p:cNvSpPr/>
          <p:nvPr/>
        </p:nvSpPr>
        <p:spPr>
          <a:xfrm>
            <a:off x="640080" y="5669280"/>
            <a:ext cx="10881360" cy="914400"/>
          </a:xfrm>
          <a:prstGeom prst="round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760720"/>
            <a:ext cx="10058400" cy="274320"/>
          </a:xfrm>
          <a:prstGeom prst="rect">
            <a:avLst/>
          </a:prstGeom>
          <a:noFill/>
        </p:spPr>
        <p:txBody>
          <a:bodyPr wrap="square">
            <a:spAutoFit/>
          </a:bodyPr>
          <a:lstStyle/>
          <a:p>
            <a:pPr algn="l">
              <a:defRPr sz="1400" b="1">
                <a:solidFill>
                  <a:srgbClr val="1E293B"/>
                </a:solidFill>
                <a:latin typeface="Calibri"/>
              </a:defRPr>
            </a:pPr>
            <a:r>
              <a:t>Payment Structure</a:t>
            </a:r>
          </a:p>
        </p:txBody>
      </p:sp>
      <p:sp>
        <p:nvSpPr>
          <p:cNvPr id="30" name="TextBox 29"/>
          <p:cNvSpPr txBox="1"/>
          <p:nvPr/>
        </p:nvSpPr>
        <p:spPr>
          <a:xfrm>
            <a:off x="914400" y="6035040"/>
            <a:ext cx="10058400" cy="365760"/>
          </a:xfrm>
          <a:prstGeom prst="rect">
            <a:avLst/>
          </a:prstGeom>
          <a:noFill/>
        </p:spPr>
        <p:txBody>
          <a:bodyPr wrap="square">
            <a:spAutoFit/>
          </a:bodyPr>
          <a:lstStyle/>
          <a:p>
            <a:pPr algn="l">
              <a:defRPr sz="1200" b="0">
                <a:solidFill>
                  <a:srgbClr val="374151"/>
                </a:solidFill>
                <a:latin typeface="Calibri"/>
              </a:defRPr>
            </a:pPr>
            <a:r>
              <a:t>30% upfront (project kickoff)  •  30% on Phase 1 delivery  •  20% on Phase 2 delivery  •  20% on final delivery &amp; sign-off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About Logician</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Engineering team focused on healthcare ad-tech and data systems</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10 / 11</a:t>
            </a:r>
          </a:p>
        </p:txBody>
      </p:sp>
      <p:sp>
        <p:nvSpPr>
          <p:cNvPr id="7" name="Rounded Rectangle 6"/>
          <p:cNvSpPr/>
          <p:nvPr/>
        </p:nvSpPr>
        <p:spPr>
          <a:xfrm>
            <a:off x="914400" y="1691640"/>
            <a:ext cx="5029200" cy="228600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828800"/>
            <a:ext cx="4572000" cy="320040"/>
          </a:xfrm>
          <a:prstGeom prst="rect">
            <a:avLst/>
          </a:prstGeom>
          <a:noFill/>
        </p:spPr>
        <p:txBody>
          <a:bodyPr wrap="square">
            <a:spAutoFit/>
          </a:bodyPr>
          <a:lstStyle/>
          <a:p>
            <a:pPr algn="l">
              <a:defRPr sz="1800" b="1">
                <a:solidFill>
                  <a:srgbClr val="2563EB"/>
                </a:solidFill>
                <a:latin typeface="Calibri"/>
              </a:defRPr>
            </a:pPr>
            <a:r>
              <a:t>Who We Are</a:t>
            </a:r>
          </a:p>
        </p:txBody>
      </p:sp>
      <p:sp>
        <p:nvSpPr>
          <p:cNvPr id="9" name="TextBox 8"/>
          <p:cNvSpPr txBox="1"/>
          <p:nvPr/>
        </p:nvSpPr>
        <p:spPr>
          <a:xfrm>
            <a:off x="1188720" y="2240280"/>
            <a:ext cx="4572000" cy="1645920"/>
          </a:xfrm>
          <a:prstGeom prst="rect">
            <a:avLst/>
          </a:prstGeom>
          <a:noFill/>
        </p:spPr>
        <p:txBody>
          <a:bodyPr wrap="square">
            <a:spAutoFit/>
          </a:bodyPr>
          <a:lstStyle/>
          <a:p>
            <a:pPr algn="l">
              <a:spcAft>
                <a:spcPts val="439"/>
              </a:spcAft>
              <a:defRPr sz="1200" b="0">
                <a:solidFill>
                  <a:srgbClr val="374151"/>
                </a:solidFill>
                <a:latin typeface="Calibri"/>
              </a:defRPr>
            </a:pPr>
            <a:r>
              <a:t>Logician is a focused engineering team that builds data-driven systems for the healthcare and advertising technology industries.</a:t>
            </a:r>
          </a:p>
          <a:p>
            <a:pPr algn="l">
              <a:spcAft>
                <a:spcPts val="439"/>
              </a:spcAft>
              <a:defRPr sz="1200" b="0">
                <a:solidFill>
                  <a:srgbClr val="374151"/>
                </a:solidFill>
                <a:latin typeface="Calibri"/>
              </a:defRPr>
            </a:pPr>
            <a:r>
              <a:t>We specialize in programmatic delivery infrastructure, audience targeting systems, and analytics dashboards.</a:t>
            </a:r>
          </a:p>
          <a:p>
            <a:pPr algn="l">
              <a:spcAft>
                <a:spcPts val="439"/>
              </a:spcAft>
              <a:defRPr sz="1200" b="0">
                <a:solidFill>
                  <a:srgbClr val="374151"/>
                </a:solidFill>
                <a:latin typeface="Calibri"/>
              </a:defRPr>
            </a:pPr>
            <a:r>
              <a:t>Our approach is phase-based and milestone-driven — you see working results early and pay as we deliver.</a:t>
            </a:r>
          </a:p>
        </p:txBody>
      </p:sp>
      <p:sp>
        <p:nvSpPr>
          <p:cNvPr id="10" name="Rounded Rectangle 9"/>
          <p:cNvSpPr/>
          <p:nvPr/>
        </p:nvSpPr>
        <p:spPr>
          <a:xfrm>
            <a:off x="6217920" y="1691640"/>
            <a:ext cx="5029200" cy="228600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828800"/>
            <a:ext cx="4572000" cy="320040"/>
          </a:xfrm>
          <a:prstGeom prst="rect">
            <a:avLst/>
          </a:prstGeom>
          <a:noFill/>
        </p:spPr>
        <p:txBody>
          <a:bodyPr wrap="square">
            <a:spAutoFit/>
          </a:bodyPr>
          <a:lstStyle/>
          <a:p>
            <a:pPr algn="l">
              <a:defRPr sz="1800" b="1">
                <a:solidFill>
                  <a:srgbClr val="059669"/>
                </a:solidFill>
                <a:latin typeface="Calibri"/>
              </a:defRPr>
            </a:pPr>
            <a:r>
              <a:t>Relevant Capabilities</a:t>
            </a:r>
          </a:p>
        </p:txBody>
      </p:sp>
      <p:sp>
        <p:nvSpPr>
          <p:cNvPr id="12" name="TextBox 11"/>
          <p:cNvSpPr txBox="1"/>
          <p:nvPr/>
        </p:nvSpPr>
        <p:spPr>
          <a:xfrm>
            <a:off x="6492240" y="2240280"/>
            <a:ext cx="4572000" cy="1645920"/>
          </a:xfrm>
          <a:prstGeom prst="rect">
            <a:avLst/>
          </a:prstGeom>
          <a:noFill/>
        </p:spPr>
        <p:txBody>
          <a:bodyPr wrap="square">
            <a:spAutoFit/>
          </a:bodyPr>
          <a:lstStyle/>
          <a:p>
            <a:pPr>
              <a:spcAft>
                <a:spcPts val="600"/>
              </a:spcAft>
              <a:defRPr sz="1200">
                <a:solidFill>
                  <a:srgbClr val="1E293B"/>
                </a:solidFill>
                <a:latin typeface="Calibri"/>
              </a:defRPr>
            </a:pPr>
            <a:r>
              <a:t>  •  Programmatic ad delivery systems</a:t>
            </a:r>
          </a:p>
          <a:p>
            <a:pPr>
              <a:spcAft>
                <a:spcPts val="600"/>
              </a:spcAft>
              <a:defRPr sz="1200">
                <a:solidFill>
                  <a:srgbClr val="1E293B"/>
                </a:solidFill>
                <a:latin typeface="Calibri"/>
              </a:defRPr>
            </a:pPr>
            <a:r>
              <a:t>  •  NPI and healthcare audience targeting</a:t>
            </a:r>
          </a:p>
          <a:p>
            <a:pPr>
              <a:spcAft>
                <a:spcPts val="600"/>
              </a:spcAft>
              <a:defRPr sz="1200">
                <a:solidFill>
                  <a:srgbClr val="1E293B"/>
                </a:solidFill>
                <a:latin typeface="Calibri"/>
              </a:defRPr>
            </a:pPr>
            <a:r>
              <a:t>  •  Real-time data dashboards and reporting</a:t>
            </a:r>
          </a:p>
          <a:p>
            <a:pPr>
              <a:spcAft>
                <a:spcPts val="600"/>
              </a:spcAft>
              <a:defRPr sz="1200">
                <a:solidFill>
                  <a:srgbClr val="1E293B"/>
                </a:solidFill>
                <a:latin typeface="Calibri"/>
              </a:defRPr>
            </a:pPr>
            <a:r>
              <a:t>  •  Scalable API development and cloud infrastructure</a:t>
            </a:r>
          </a:p>
          <a:p>
            <a:pPr>
              <a:spcAft>
                <a:spcPts val="600"/>
              </a:spcAft>
              <a:defRPr sz="1200">
                <a:solidFill>
                  <a:srgbClr val="1E293B"/>
                </a:solidFill>
                <a:latin typeface="Calibri"/>
              </a:defRPr>
            </a:pPr>
            <a:r>
              <a:t>  •  Multi-site deployment and configuration management</a:t>
            </a:r>
          </a:p>
        </p:txBody>
      </p:sp>
      <p:sp>
        <p:nvSpPr>
          <p:cNvPr id="13" name="Rounded Rectangle 12"/>
          <p:cNvSpPr/>
          <p:nvPr/>
        </p:nvSpPr>
        <p:spPr>
          <a:xfrm>
            <a:off x="914400" y="4251960"/>
            <a:ext cx="10332720" cy="2286000"/>
          </a:xfrm>
          <a:prstGeom prst="round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389120"/>
            <a:ext cx="9144000" cy="320040"/>
          </a:xfrm>
          <a:prstGeom prst="rect">
            <a:avLst/>
          </a:prstGeom>
          <a:noFill/>
        </p:spPr>
        <p:txBody>
          <a:bodyPr wrap="square">
            <a:spAutoFit/>
          </a:bodyPr>
          <a:lstStyle/>
          <a:p>
            <a:pPr algn="l">
              <a:defRPr sz="1800" b="1">
                <a:solidFill>
                  <a:srgbClr val="2563EB"/>
                </a:solidFill>
                <a:latin typeface="Calibri"/>
              </a:defRPr>
            </a:pPr>
            <a:r>
              <a:t>How We Work</a:t>
            </a:r>
          </a:p>
        </p:txBody>
      </p:sp>
      <p:sp>
        <p:nvSpPr>
          <p:cNvPr id="15" name="TextBox 14"/>
          <p:cNvSpPr txBox="1"/>
          <p:nvPr/>
        </p:nvSpPr>
        <p:spPr>
          <a:xfrm>
            <a:off x="1188720" y="4800600"/>
            <a:ext cx="2286000" cy="274320"/>
          </a:xfrm>
          <a:prstGeom prst="rect">
            <a:avLst/>
          </a:prstGeom>
          <a:noFill/>
        </p:spPr>
        <p:txBody>
          <a:bodyPr wrap="square">
            <a:spAutoFit/>
          </a:bodyPr>
          <a:lstStyle/>
          <a:p>
            <a:pPr algn="l">
              <a:defRPr sz="1200" b="1">
                <a:solidFill>
                  <a:srgbClr val="2563EB"/>
                </a:solidFill>
                <a:latin typeface="Calibri"/>
              </a:defRPr>
            </a:pPr>
            <a:r>
              <a:t>Phase-Based Delivery</a:t>
            </a:r>
          </a:p>
        </p:txBody>
      </p:sp>
      <p:sp>
        <p:nvSpPr>
          <p:cNvPr id="16" name="TextBox 15"/>
          <p:cNvSpPr txBox="1"/>
          <p:nvPr/>
        </p:nvSpPr>
        <p:spPr>
          <a:xfrm>
            <a:off x="1188720" y="5074920"/>
            <a:ext cx="2286000" cy="1097280"/>
          </a:xfrm>
          <a:prstGeom prst="rect">
            <a:avLst/>
          </a:prstGeom>
          <a:noFill/>
        </p:spPr>
        <p:txBody>
          <a:bodyPr wrap="square">
            <a:spAutoFit/>
          </a:bodyPr>
          <a:lstStyle/>
          <a:p>
            <a:pPr algn="l">
              <a:defRPr sz="1100" b="0">
                <a:solidFill>
                  <a:srgbClr val="374151"/>
                </a:solidFill>
                <a:latin typeface="Calibri"/>
              </a:defRPr>
            </a:pPr>
            <a:r>
              <a:t>Every phase produces a working, testable system. You validate before we expand.</a:t>
            </a:r>
          </a:p>
        </p:txBody>
      </p:sp>
      <p:sp>
        <p:nvSpPr>
          <p:cNvPr id="17" name="TextBox 16"/>
          <p:cNvSpPr txBox="1"/>
          <p:nvPr/>
        </p:nvSpPr>
        <p:spPr>
          <a:xfrm>
            <a:off x="3749039" y="4800600"/>
            <a:ext cx="2286000" cy="274320"/>
          </a:xfrm>
          <a:prstGeom prst="rect">
            <a:avLst/>
          </a:prstGeom>
          <a:noFill/>
        </p:spPr>
        <p:txBody>
          <a:bodyPr wrap="square">
            <a:spAutoFit/>
          </a:bodyPr>
          <a:lstStyle/>
          <a:p>
            <a:pPr algn="l">
              <a:defRPr sz="1200" b="1">
                <a:solidFill>
                  <a:srgbClr val="059669"/>
                </a:solidFill>
                <a:latin typeface="Calibri"/>
              </a:defRPr>
            </a:pPr>
            <a:r>
              <a:t>Weekly Check-ins</a:t>
            </a:r>
          </a:p>
        </p:txBody>
      </p:sp>
      <p:sp>
        <p:nvSpPr>
          <p:cNvPr id="18" name="TextBox 17"/>
          <p:cNvSpPr txBox="1"/>
          <p:nvPr/>
        </p:nvSpPr>
        <p:spPr>
          <a:xfrm>
            <a:off x="3749039" y="5074920"/>
            <a:ext cx="2286000" cy="1097280"/>
          </a:xfrm>
          <a:prstGeom prst="rect">
            <a:avLst/>
          </a:prstGeom>
          <a:noFill/>
        </p:spPr>
        <p:txBody>
          <a:bodyPr wrap="square">
            <a:spAutoFit/>
          </a:bodyPr>
          <a:lstStyle/>
          <a:p>
            <a:pPr algn="l">
              <a:defRPr sz="1100" b="0">
                <a:solidFill>
                  <a:srgbClr val="374151"/>
                </a:solidFill>
                <a:latin typeface="Calibri"/>
              </a:defRPr>
            </a:pPr>
            <a:r>
              <a:t>Short weekly calls to demo progress, review priorities, and resolve blockers.</a:t>
            </a:r>
          </a:p>
        </p:txBody>
      </p:sp>
      <p:sp>
        <p:nvSpPr>
          <p:cNvPr id="19" name="TextBox 18"/>
          <p:cNvSpPr txBox="1"/>
          <p:nvPr/>
        </p:nvSpPr>
        <p:spPr>
          <a:xfrm>
            <a:off x="6309359" y="4800600"/>
            <a:ext cx="2286000" cy="274320"/>
          </a:xfrm>
          <a:prstGeom prst="rect">
            <a:avLst/>
          </a:prstGeom>
          <a:noFill/>
        </p:spPr>
        <p:txBody>
          <a:bodyPr wrap="square">
            <a:spAutoFit/>
          </a:bodyPr>
          <a:lstStyle/>
          <a:p>
            <a:pPr algn="l">
              <a:defRPr sz="1200" b="1">
                <a:solidFill>
                  <a:srgbClr val="D97706"/>
                </a:solidFill>
                <a:latin typeface="Calibri"/>
              </a:defRPr>
            </a:pPr>
            <a:r>
              <a:t>Milestone Payments</a:t>
            </a:r>
          </a:p>
        </p:txBody>
      </p:sp>
      <p:sp>
        <p:nvSpPr>
          <p:cNvPr id="20" name="TextBox 19"/>
          <p:cNvSpPr txBox="1"/>
          <p:nvPr/>
        </p:nvSpPr>
        <p:spPr>
          <a:xfrm>
            <a:off x="6309359" y="5074920"/>
            <a:ext cx="2286000" cy="1097280"/>
          </a:xfrm>
          <a:prstGeom prst="rect">
            <a:avLst/>
          </a:prstGeom>
          <a:noFill/>
        </p:spPr>
        <p:txBody>
          <a:bodyPr wrap="square">
            <a:spAutoFit/>
          </a:bodyPr>
          <a:lstStyle/>
          <a:p>
            <a:pPr algn="l">
              <a:defRPr sz="1100" b="0">
                <a:solidFill>
                  <a:srgbClr val="374151"/>
                </a:solidFill>
                <a:latin typeface="Calibri"/>
              </a:defRPr>
            </a:pPr>
            <a:r>
              <a:t>You pay tied to deliverables — not time elapsed. If we don’t deliver, you don’t pay.</a:t>
            </a:r>
          </a:p>
        </p:txBody>
      </p:sp>
      <p:sp>
        <p:nvSpPr>
          <p:cNvPr id="21" name="TextBox 20"/>
          <p:cNvSpPr txBox="1"/>
          <p:nvPr/>
        </p:nvSpPr>
        <p:spPr>
          <a:xfrm>
            <a:off x="8869680" y="4800600"/>
            <a:ext cx="2286000" cy="274320"/>
          </a:xfrm>
          <a:prstGeom prst="rect">
            <a:avLst/>
          </a:prstGeom>
          <a:noFill/>
        </p:spPr>
        <p:txBody>
          <a:bodyPr wrap="square">
            <a:spAutoFit/>
          </a:bodyPr>
          <a:lstStyle/>
          <a:p>
            <a:pPr algn="l">
              <a:defRPr sz="1200" b="1">
                <a:solidFill>
                  <a:srgbClr val="7C3AED"/>
                </a:solidFill>
                <a:latin typeface="Calibri"/>
              </a:defRPr>
            </a:pPr>
            <a:r>
              <a:t>Full Documentation</a:t>
            </a:r>
          </a:p>
        </p:txBody>
      </p:sp>
      <p:sp>
        <p:nvSpPr>
          <p:cNvPr id="22" name="TextBox 21"/>
          <p:cNvSpPr txBox="1"/>
          <p:nvPr/>
        </p:nvSpPr>
        <p:spPr>
          <a:xfrm>
            <a:off x="8869680" y="5074920"/>
            <a:ext cx="2286000" cy="1097280"/>
          </a:xfrm>
          <a:prstGeom prst="rect">
            <a:avLst/>
          </a:prstGeom>
          <a:noFill/>
        </p:spPr>
        <p:txBody>
          <a:bodyPr wrap="square">
            <a:spAutoFit/>
          </a:bodyPr>
          <a:lstStyle/>
          <a:p>
            <a:pPr algn="l">
              <a:defRPr sz="1100" b="0">
                <a:solidFill>
                  <a:srgbClr val="374151"/>
                </a:solidFill>
                <a:latin typeface="Calibri"/>
              </a:defRPr>
            </a:pPr>
            <a:r>
              <a:t>Every system we build includes deployment guides, API docs, and training materials.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914400" y="548640"/>
            <a:ext cx="1097280" cy="50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685800"/>
            <a:ext cx="9144000" cy="640080"/>
          </a:xfrm>
          <a:prstGeom prst="rect">
            <a:avLst/>
          </a:prstGeom>
          <a:noFill/>
        </p:spPr>
        <p:txBody>
          <a:bodyPr wrap="square">
            <a:spAutoFit/>
          </a:bodyPr>
          <a:lstStyle/>
          <a:p>
            <a:pPr algn="l">
              <a:defRPr sz="3200" b="1">
                <a:solidFill>
                  <a:srgbClr val="1E293B"/>
                </a:solidFill>
                <a:latin typeface="Calibri"/>
              </a:defRPr>
            </a:pPr>
            <a:r>
              <a:t>Next Steps</a:t>
            </a:r>
          </a:p>
        </p:txBody>
      </p:sp>
      <p:sp>
        <p:nvSpPr>
          <p:cNvPr id="4" name="TextBox 3"/>
          <p:cNvSpPr txBox="1"/>
          <p:nvPr/>
        </p:nvSpPr>
        <p:spPr>
          <a:xfrm>
            <a:off x="914400" y="1143000"/>
            <a:ext cx="9144000" cy="365760"/>
          </a:xfrm>
          <a:prstGeom prst="rect">
            <a:avLst/>
          </a:prstGeom>
          <a:noFill/>
        </p:spPr>
        <p:txBody>
          <a:bodyPr wrap="square">
            <a:spAutoFit/>
          </a:bodyPr>
          <a:lstStyle/>
          <a:p>
            <a:pPr algn="l">
              <a:defRPr sz="1600" b="0">
                <a:solidFill>
                  <a:srgbClr val="6B7280"/>
                </a:solidFill>
                <a:latin typeface="Calibri"/>
              </a:defRPr>
            </a:pPr>
            <a:r>
              <a:t>What we need to finalize scope and begin delivery</a:t>
            </a:r>
          </a:p>
        </p:txBody>
      </p:sp>
      <p:sp>
        <p:nvSpPr>
          <p:cNvPr id="5" name="Rectangle 4"/>
          <p:cNvSpPr/>
          <p:nvPr/>
        </p:nvSpPr>
        <p:spPr>
          <a:xfrm>
            <a:off x="914400" y="1508760"/>
            <a:ext cx="10332720"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6492240"/>
            <a:ext cx="1371600" cy="274320"/>
          </a:xfrm>
          <a:prstGeom prst="rect">
            <a:avLst/>
          </a:prstGeom>
          <a:noFill/>
        </p:spPr>
        <p:txBody>
          <a:bodyPr wrap="square">
            <a:spAutoFit/>
          </a:bodyPr>
          <a:lstStyle/>
          <a:p>
            <a:pPr algn="r">
              <a:defRPr sz="1000" b="0">
                <a:solidFill>
                  <a:srgbClr val="6B7280"/>
                </a:solidFill>
                <a:latin typeface="Calibri"/>
              </a:defRPr>
            </a:pPr>
            <a:r>
              <a:t>11 / 11</a:t>
            </a:r>
          </a:p>
        </p:txBody>
      </p:sp>
      <p:sp>
        <p:nvSpPr>
          <p:cNvPr id="7" name="Rounded Rectangle 6"/>
          <p:cNvSpPr/>
          <p:nvPr/>
        </p:nvSpPr>
        <p:spPr>
          <a:xfrm>
            <a:off x="914400" y="1691640"/>
            <a:ext cx="5029200" cy="4114800"/>
          </a:xfrm>
          <a:prstGeom prst="roundRect">
            <a:avLst/>
          </a:prstGeom>
          <a:solidFill>
            <a:srgbClr val="DBEAFE"/>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1783080"/>
            <a:ext cx="4572000" cy="320040"/>
          </a:xfrm>
          <a:prstGeom prst="rect">
            <a:avLst/>
          </a:prstGeom>
          <a:noFill/>
        </p:spPr>
        <p:txBody>
          <a:bodyPr wrap="square">
            <a:spAutoFit/>
          </a:bodyPr>
          <a:lstStyle/>
          <a:p>
            <a:pPr algn="l">
              <a:defRPr sz="1700" b="1">
                <a:solidFill>
                  <a:srgbClr val="2563EB"/>
                </a:solidFill>
                <a:latin typeface="Calibri"/>
              </a:defRPr>
            </a:pPr>
            <a:r>
              <a:t>Questions We Need Answered</a:t>
            </a:r>
          </a:p>
        </p:txBody>
      </p:sp>
      <p:sp>
        <p:nvSpPr>
          <p:cNvPr id="9" name="Rectangle 8"/>
          <p:cNvSpPr/>
          <p:nvPr/>
        </p:nvSpPr>
        <p:spPr>
          <a:xfrm>
            <a:off x="1188720" y="2103120"/>
            <a:ext cx="1828800"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286000"/>
            <a:ext cx="4572000" cy="3200400"/>
          </a:xfrm>
          <a:prstGeom prst="rect">
            <a:avLst/>
          </a:prstGeom>
          <a:noFill/>
        </p:spPr>
        <p:txBody>
          <a:bodyPr wrap="square">
            <a:spAutoFit/>
          </a:bodyPr>
          <a:lstStyle/>
          <a:p>
            <a:pPr>
              <a:spcAft>
                <a:spcPts val="600"/>
              </a:spcAft>
              <a:defRPr sz="1200">
                <a:solidFill>
                  <a:srgbClr val="1E293B"/>
                </a:solidFill>
                <a:latin typeface="Calibri"/>
              </a:defRPr>
            </a:pPr>
            <a:r>
              <a:t>  •  How is NPI identity currently resolved on your sites?</a:t>
            </a:r>
          </a:p>
          <a:p>
            <a:pPr>
              <a:spcAft>
                <a:spcPts val="600"/>
              </a:spcAft>
              <a:defRPr sz="1200">
                <a:solidFill>
                  <a:srgbClr val="1E293B"/>
                </a:solidFill>
                <a:latin typeface="Calibri"/>
              </a:defRPr>
            </a:pPr>
            <a:r>
              <a:t>  •  Is there an existing login system for HCPs?</a:t>
            </a:r>
          </a:p>
          <a:p>
            <a:pPr>
              <a:spcAft>
                <a:spcPts val="600"/>
              </a:spcAft>
              <a:defRPr sz="1200">
                <a:solidFill>
                  <a:srgbClr val="1E293B"/>
                </a:solidFill>
                <a:latin typeface="Calibri"/>
              </a:defRPr>
            </a:pPr>
            <a:r>
              <a:t>  •  What ad-serving infrastructure does Adverge use today?</a:t>
            </a:r>
          </a:p>
          <a:p>
            <a:pPr>
              <a:spcAft>
                <a:spcPts val="600"/>
              </a:spcAft>
              <a:defRPr sz="1200">
                <a:solidFill>
                  <a:srgbClr val="1E293B"/>
                </a:solidFill>
                <a:latin typeface="Calibri"/>
              </a:defRPr>
            </a:pPr>
            <a:r>
              <a:t>  •  How many sites are in scope for Phase 1?</a:t>
            </a:r>
          </a:p>
          <a:p>
            <a:pPr>
              <a:spcAft>
                <a:spcPts val="600"/>
              </a:spcAft>
              <a:defRPr sz="1200">
                <a:solidFill>
                  <a:srgbClr val="1E293B"/>
                </a:solidFill>
                <a:latin typeface="Calibri"/>
              </a:defRPr>
            </a:pPr>
            <a:r>
              <a:t>  •  Approximate monthly traffic volume?</a:t>
            </a:r>
          </a:p>
          <a:p>
            <a:pPr>
              <a:spcAft>
                <a:spcPts val="600"/>
              </a:spcAft>
              <a:defRPr sz="1200">
                <a:solidFill>
                  <a:srgbClr val="1E293B"/>
                </a:solidFill>
                <a:latin typeface="Calibri"/>
              </a:defRPr>
            </a:pPr>
            <a:r>
              <a:t>  •  Who creates and approves the text snippet content?</a:t>
            </a:r>
          </a:p>
          <a:p>
            <a:pPr>
              <a:spcAft>
                <a:spcPts val="600"/>
              </a:spcAft>
              <a:defRPr sz="1200">
                <a:solidFill>
                  <a:srgbClr val="1E293B"/>
                </a:solidFill>
                <a:latin typeface="Calibri"/>
              </a:defRPr>
            </a:pPr>
            <a:r>
              <a:t>  •  What is your target launch date?</a:t>
            </a:r>
          </a:p>
          <a:p>
            <a:pPr>
              <a:spcAft>
                <a:spcPts val="600"/>
              </a:spcAft>
              <a:defRPr sz="1200">
                <a:solidFill>
                  <a:srgbClr val="1E293B"/>
                </a:solidFill>
                <a:latin typeface="Calibri"/>
              </a:defRPr>
            </a:pPr>
            <a:r>
              <a:t>  •  Is there a defined viewability standard for text units?</a:t>
            </a:r>
          </a:p>
        </p:txBody>
      </p:sp>
      <p:sp>
        <p:nvSpPr>
          <p:cNvPr id="11" name="Rounded Rectangle 10"/>
          <p:cNvSpPr/>
          <p:nvPr/>
        </p:nvSpPr>
        <p:spPr>
          <a:xfrm>
            <a:off x="6217920" y="1691640"/>
            <a:ext cx="5029200" cy="4114800"/>
          </a:xfrm>
          <a:prstGeom prst="roundRect">
            <a:avLst/>
          </a:prstGeom>
          <a:solidFill>
            <a:srgbClr val="D1FAE5"/>
          </a:solidFill>
          <a:ln w="952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83080"/>
            <a:ext cx="4572000" cy="320040"/>
          </a:xfrm>
          <a:prstGeom prst="rect">
            <a:avLst/>
          </a:prstGeom>
          <a:noFill/>
        </p:spPr>
        <p:txBody>
          <a:bodyPr wrap="square">
            <a:spAutoFit/>
          </a:bodyPr>
          <a:lstStyle/>
          <a:p>
            <a:pPr algn="l">
              <a:defRPr sz="1700" b="1">
                <a:solidFill>
                  <a:srgbClr val="059669"/>
                </a:solidFill>
                <a:latin typeface="Calibri"/>
              </a:defRPr>
            </a:pPr>
            <a:r>
              <a:t>Once Confirmed — We Begin</a:t>
            </a:r>
          </a:p>
        </p:txBody>
      </p:sp>
      <p:sp>
        <p:nvSpPr>
          <p:cNvPr id="13" name="Rectangle 12"/>
          <p:cNvSpPr/>
          <p:nvPr/>
        </p:nvSpPr>
        <p:spPr>
          <a:xfrm>
            <a:off x="6492240" y="2103120"/>
            <a:ext cx="1828800"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286000"/>
            <a:ext cx="4572000" cy="3200400"/>
          </a:xfrm>
          <a:prstGeom prst="rect">
            <a:avLst/>
          </a:prstGeom>
          <a:noFill/>
        </p:spPr>
        <p:txBody>
          <a:bodyPr wrap="square">
            <a:spAutoFit/>
          </a:bodyPr>
          <a:lstStyle/>
          <a:p>
            <a:pPr>
              <a:spcAft>
                <a:spcPts val="600"/>
              </a:spcAft>
              <a:defRPr sz="1200">
                <a:solidFill>
                  <a:srgbClr val="1E293B"/>
                </a:solidFill>
                <a:latin typeface="Calibri"/>
              </a:defRPr>
            </a:pPr>
            <a:r>
              <a:t>  •  Finalize scope based on your answers</a:t>
            </a:r>
          </a:p>
          <a:p>
            <a:pPr>
              <a:spcAft>
                <a:spcPts val="600"/>
              </a:spcAft>
              <a:defRPr sz="1200">
                <a:solidFill>
                  <a:srgbClr val="1E293B"/>
                </a:solidFill>
                <a:latin typeface="Calibri"/>
              </a:defRPr>
            </a:pPr>
            <a:r>
              <a:t>  •  Sign agreement and confirm payment schedule</a:t>
            </a:r>
          </a:p>
          <a:p>
            <a:pPr>
              <a:spcAft>
                <a:spcPts val="600"/>
              </a:spcAft>
              <a:defRPr sz="1200">
                <a:solidFill>
                  <a:srgbClr val="1E293B"/>
                </a:solidFill>
                <a:latin typeface="Calibri"/>
              </a:defRPr>
            </a:pPr>
            <a:r>
              <a:t>  •  Kick off Phase 1: database design and API planning</a:t>
            </a:r>
          </a:p>
          <a:p>
            <a:pPr>
              <a:spcAft>
                <a:spcPts val="600"/>
              </a:spcAft>
              <a:defRPr sz="1200">
                <a:solidFill>
                  <a:srgbClr val="1E293B"/>
                </a:solidFill>
                <a:latin typeface="Calibri"/>
              </a:defRPr>
            </a:pPr>
            <a:r>
              <a:t>  •  Set up shared communication channel</a:t>
            </a:r>
          </a:p>
          <a:p>
            <a:pPr>
              <a:spcAft>
                <a:spcPts val="600"/>
              </a:spcAft>
              <a:defRPr sz="1200">
                <a:solidFill>
                  <a:srgbClr val="1E293B"/>
                </a:solidFill>
                <a:latin typeface="Calibri"/>
              </a:defRPr>
            </a:pPr>
            <a:r>
              <a:t>  •  Schedule weekly progress demos</a:t>
            </a:r>
          </a:p>
          <a:p>
            <a:pPr>
              <a:spcAft>
                <a:spcPts val="600"/>
              </a:spcAft>
              <a:defRPr sz="1200">
                <a:solidFill>
                  <a:srgbClr val="1E293B"/>
                </a:solidFill>
                <a:latin typeface="Calibri"/>
              </a:defRPr>
            </a:pPr>
            <a:r>
              <a:t>  •  Deliver working single-site pilot within 6–8 weeks</a:t>
            </a:r>
          </a:p>
          <a:p>
            <a:pPr>
              <a:spcAft>
                <a:spcPts val="600"/>
              </a:spcAft>
              <a:defRPr sz="1200">
                <a:solidFill>
                  <a:srgbClr val="1E293B"/>
                </a:solidFill>
                <a:latin typeface="Calibri"/>
              </a:defRPr>
            </a:pPr>
            <a:r>
              <a:t>  •  Review Phase 1 results before approving Phase 2</a:t>
            </a:r>
          </a:p>
          <a:p>
            <a:pPr>
              <a:spcAft>
                <a:spcPts val="600"/>
              </a:spcAft>
              <a:defRPr sz="1200">
                <a:solidFill>
                  <a:srgbClr val="1E293B"/>
                </a:solidFill>
                <a:latin typeface="Calibri"/>
              </a:defRPr>
            </a:pPr>
            <a:r>
              <a:t>  •  Full system live within 14–20 weeks</a:t>
            </a:r>
          </a:p>
        </p:txBody>
      </p:sp>
      <p:sp>
        <p:nvSpPr>
          <p:cNvPr id="15" name="Rounded Rectangle 14"/>
          <p:cNvSpPr/>
          <p:nvPr/>
        </p:nvSpPr>
        <p:spPr>
          <a:xfrm>
            <a:off x="914400" y="6080760"/>
            <a:ext cx="10332720" cy="548640"/>
          </a:xfrm>
          <a:prstGeom prst="roundRect">
            <a:avLst/>
          </a:prstGeom>
          <a:solidFill>
            <a:srgbClr val="F1F5F9"/>
          </a:solidFill>
          <a:ln w="952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6126480"/>
            <a:ext cx="9144000" cy="365760"/>
          </a:xfrm>
          <a:prstGeom prst="rect">
            <a:avLst/>
          </a:prstGeom>
          <a:noFill/>
        </p:spPr>
        <p:txBody>
          <a:bodyPr wrap="square">
            <a:spAutoFit/>
          </a:bodyPr>
          <a:lstStyle/>
          <a:p>
            <a:pPr algn="ctr">
              <a:defRPr sz="1500" b="1">
                <a:solidFill>
                  <a:srgbClr val="2563EB"/>
                </a:solidFill>
                <a:latin typeface="Calibri"/>
              </a:defRPr>
            </a:pPr>
            <a:r>
              <a:t>We’re ready to begin. Let’s schedule a discovery call to align on scope and timeline.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